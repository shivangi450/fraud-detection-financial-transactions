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87" r:id="rId1"/>
  </p:sldMasterIdLst>
  <p:notesMasterIdLst>
    <p:notesMasterId r:id="rId18"/>
  </p:notesMasterIdLst>
  <p:sldIdLst>
    <p:sldId id="256" r:id="rId2"/>
    <p:sldId id="257" r:id="rId3"/>
    <p:sldId id="258" r:id="rId4"/>
    <p:sldId id="264" r:id="rId5"/>
    <p:sldId id="261" r:id="rId6"/>
    <p:sldId id="262" r:id="rId7"/>
    <p:sldId id="263" r:id="rId8"/>
    <p:sldId id="259"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63"/>
  </p:normalViewPr>
  <p:slideViewPr>
    <p:cSldViewPr snapToGrid="0">
      <p:cViewPr varScale="1">
        <p:scale>
          <a:sx n="117" d="100"/>
          <a:sy n="117" d="100"/>
        </p:scale>
        <p:origin x="5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D0410C-6971-4516-86E6-F7641971D66D}"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9DBA6C32-FBC5-4A68-A60C-F9C59E79F222}">
      <dgm:prSet/>
      <dgm:spPr/>
      <dgm:t>
        <a:bodyPr/>
        <a:lstStyle/>
        <a:p>
          <a:r>
            <a:rPr lang="en-US" b="1" dirty="0">
              <a:latin typeface="Times New Roman" panose="02020603050405020304" pitchFamily="18" charset="0"/>
              <a:cs typeface="Times New Roman" panose="02020603050405020304" pitchFamily="18" charset="0"/>
            </a:rPr>
            <a:t>Project Objectives</a:t>
          </a:r>
          <a:endParaRPr lang="en-US" dirty="0">
            <a:latin typeface="Times New Roman" panose="02020603050405020304" pitchFamily="18" charset="0"/>
            <a:cs typeface="Times New Roman" panose="02020603050405020304" pitchFamily="18" charset="0"/>
          </a:endParaRPr>
        </a:p>
      </dgm:t>
    </dgm:pt>
    <dgm:pt modelId="{02821AB7-AC4C-4FB6-944F-9F9147830504}" type="parTrans" cxnId="{05D0838A-9207-44EE-9026-21487E1A0F33}">
      <dgm:prSet/>
      <dgm:spPr/>
      <dgm:t>
        <a:bodyPr/>
        <a:lstStyle/>
        <a:p>
          <a:endParaRPr lang="en-US"/>
        </a:p>
      </dgm:t>
    </dgm:pt>
    <dgm:pt modelId="{4587ABE7-4A9B-4016-A9B5-ADF4A32E24BE}" type="sibTrans" cxnId="{05D0838A-9207-44EE-9026-21487E1A0F33}">
      <dgm:prSet phldrT="1" phldr="0"/>
      <dgm:spPr/>
      <dgm:t>
        <a:bodyPr/>
        <a:lstStyle/>
        <a:p>
          <a:endParaRPr lang="en-US"/>
        </a:p>
      </dgm:t>
    </dgm:pt>
    <dgm:pt modelId="{39A8A3F6-795B-4097-925A-1AF08E7697D2}">
      <dgm:prSet/>
      <dgm:spPr/>
      <dgm:t>
        <a:bodyPr/>
        <a:lstStyle/>
        <a:p>
          <a:r>
            <a:rPr lang="en-US" b="0" i="0" dirty="0">
              <a:latin typeface="Times New Roman" panose="02020603050405020304" pitchFamily="18" charset="0"/>
              <a:cs typeface="Times New Roman" panose="02020603050405020304" pitchFamily="18" charset="0"/>
            </a:rPr>
            <a:t>Fraud Detection using machine learning</a:t>
          </a:r>
          <a:endParaRPr lang="en-US" dirty="0">
            <a:latin typeface="Times New Roman" panose="02020603050405020304" pitchFamily="18" charset="0"/>
            <a:cs typeface="Times New Roman" panose="02020603050405020304" pitchFamily="18" charset="0"/>
          </a:endParaRPr>
        </a:p>
      </dgm:t>
    </dgm:pt>
    <dgm:pt modelId="{56A5446C-AA76-4246-8D5D-4DAFE8D149AA}" type="parTrans" cxnId="{849C573E-7A15-4F75-99DD-0131EC6C08DA}">
      <dgm:prSet/>
      <dgm:spPr/>
      <dgm:t>
        <a:bodyPr/>
        <a:lstStyle/>
        <a:p>
          <a:endParaRPr lang="en-US"/>
        </a:p>
      </dgm:t>
    </dgm:pt>
    <dgm:pt modelId="{23EC62DB-DA31-4001-BAA0-41892120E24D}" type="sibTrans" cxnId="{849C573E-7A15-4F75-99DD-0131EC6C08DA}">
      <dgm:prSet phldrT="2" phldr="0"/>
      <dgm:spPr/>
      <dgm:t>
        <a:bodyPr/>
        <a:lstStyle/>
        <a:p>
          <a:endParaRPr lang="en-US"/>
        </a:p>
      </dgm:t>
    </dgm:pt>
    <dgm:pt modelId="{7EC4D101-F9A1-42A3-B202-F0378378C265}">
      <dgm:prSet/>
      <dgm:spPr/>
      <dgm:t>
        <a:bodyPr/>
        <a:lstStyle/>
        <a:p>
          <a:r>
            <a:rPr lang="en-US" b="0" i="0" dirty="0">
              <a:latin typeface="Times New Roman" panose="02020603050405020304" pitchFamily="18" charset="0"/>
              <a:cs typeface="Times New Roman" panose="02020603050405020304" pitchFamily="18" charset="0"/>
            </a:rPr>
            <a:t>Handle class imbalance responsibly</a:t>
          </a:r>
          <a:endParaRPr lang="en-US" dirty="0">
            <a:latin typeface="Times New Roman" panose="02020603050405020304" pitchFamily="18" charset="0"/>
            <a:cs typeface="Times New Roman" panose="02020603050405020304" pitchFamily="18" charset="0"/>
          </a:endParaRPr>
        </a:p>
      </dgm:t>
    </dgm:pt>
    <dgm:pt modelId="{8ADF40DB-EF68-4822-9832-C07644101695}" type="parTrans" cxnId="{B1CFCBAD-9430-415B-9979-881E755D9AF2}">
      <dgm:prSet/>
      <dgm:spPr/>
      <dgm:t>
        <a:bodyPr/>
        <a:lstStyle/>
        <a:p>
          <a:endParaRPr lang="en-US"/>
        </a:p>
      </dgm:t>
    </dgm:pt>
    <dgm:pt modelId="{D33C3C06-C6DD-45B5-85DB-50787575546D}" type="sibTrans" cxnId="{B1CFCBAD-9430-415B-9979-881E755D9AF2}">
      <dgm:prSet phldrT="3" phldr="0"/>
      <dgm:spPr/>
      <dgm:t>
        <a:bodyPr/>
        <a:lstStyle/>
        <a:p>
          <a:endParaRPr lang="en-US"/>
        </a:p>
      </dgm:t>
    </dgm:pt>
    <dgm:pt modelId="{77D0A728-6AB7-4765-8C1D-3E0D65D80A46}">
      <dgm:prSet/>
      <dgm:spPr/>
      <dgm:t>
        <a:bodyPr/>
        <a:lstStyle/>
        <a:p>
          <a:r>
            <a:rPr lang="en-US" b="0" i="0" dirty="0">
              <a:latin typeface="Times New Roman" panose="02020603050405020304" pitchFamily="18" charset="0"/>
              <a:cs typeface="Times New Roman" panose="02020603050405020304" pitchFamily="18" charset="0"/>
            </a:rPr>
            <a:t>Compare and contrast models for classification</a:t>
          </a:r>
          <a:endParaRPr lang="en-US" dirty="0">
            <a:latin typeface="Times New Roman" panose="02020603050405020304" pitchFamily="18" charset="0"/>
            <a:cs typeface="Times New Roman" panose="02020603050405020304" pitchFamily="18" charset="0"/>
          </a:endParaRPr>
        </a:p>
      </dgm:t>
    </dgm:pt>
    <dgm:pt modelId="{02725076-7C88-48AC-A1B5-B2E387B2AD5B}" type="parTrans" cxnId="{41E7D823-1167-4A62-B0F3-BEB510E77823}">
      <dgm:prSet/>
      <dgm:spPr/>
      <dgm:t>
        <a:bodyPr/>
        <a:lstStyle/>
        <a:p>
          <a:endParaRPr lang="en-US"/>
        </a:p>
      </dgm:t>
    </dgm:pt>
    <dgm:pt modelId="{C8497DC4-B406-42BF-A599-F15B43561591}" type="sibTrans" cxnId="{41E7D823-1167-4A62-B0F3-BEB510E77823}">
      <dgm:prSet phldrT="4" phldr="0"/>
      <dgm:spPr/>
      <dgm:t>
        <a:bodyPr/>
        <a:lstStyle/>
        <a:p>
          <a:endParaRPr lang="en-US"/>
        </a:p>
      </dgm:t>
    </dgm:pt>
    <dgm:pt modelId="{D6B5AFAB-B9AA-4DD7-B55D-C6DC8701159F}">
      <dgm:prSet/>
      <dgm:spPr/>
      <dgm:t>
        <a:bodyPr/>
        <a:lstStyle/>
        <a:p>
          <a:r>
            <a:rPr lang="en-US" dirty="0">
              <a:latin typeface="Times New Roman" panose="02020603050405020304" pitchFamily="18" charset="0"/>
              <a:cs typeface="Times New Roman" panose="02020603050405020304" pitchFamily="18" charset="0"/>
            </a:rPr>
            <a:t>Tune the probability thresholds for maximum recall</a:t>
          </a:r>
        </a:p>
      </dgm:t>
    </dgm:pt>
    <dgm:pt modelId="{DCCFC526-DB32-4A0C-BED1-FF31287F9C41}" type="parTrans" cxnId="{BB0D862D-A259-4228-AD1D-2EF43ECF833C}">
      <dgm:prSet/>
      <dgm:spPr/>
      <dgm:t>
        <a:bodyPr/>
        <a:lstStyle/>
        <a:p>
          <a:endParaRPr lang="en-US"/>
        </a:p>
      </dgm:t>
    </dgm:pt>
    <dgm:pt modelId="{9388EE18-E9A9-4846-B552-56AF9181F7CF}" type="sibTrans" cxnId="{BB0D862D-A259-4228-AD1D-2EF43ECF833C}">
      <dgm:prSet phldrT="5" phldr="0"/>
      <dgm:spPr/>
      <dgm:t>
        <a:bodyPr/>
        <a:lstStyle/>
        <a:p>
          <a:endParaRPr lang="en-US"/>
        </a:p>
      </dgm:t>
    </dgm:pt>
    <dgm:pt modelId="{D2F3D24A-9B39-4D05-B2A6-57D006A654AA}">
      <dgm:prSet/>
      <dgm:spPr/>
      <dgm:t>
        <a:bodyPr/>
        <a:lstStyle/>
        <a:p>
          <a:r>
            <a:rPr lang="en-US" b="0" i="0" dirty="0">
              <a:latin typeface="Times New Roman" panose="02020603050405020304" pitchFamily="18" charset="0"/>
              <a:cs typeface="Times New Roman" panose="02020603050405020304" pitchFamily="18" charset="0"/>
            </a:rPr>
            <a:t>Identify and select important driving features of fraud </a:t>
          </a:r>
          <a:br>
            <a:rPr lang="en-US" dirty="0"/>
          </a:br>
          <a:endParaRPr lang="en-US" dirty="0"/>
        </a:p>
      </dgm:t>
    </dgm:pt>
    <dgm:pt modelId="{F1D3FDD6-99C5-4118-81CD-9ADA0FE0B3DA}" type="parTrans" cxnId="{8A6F8C39-0A13-4A7A-8E4C-DFDD79CC68FB}">
      <dgm:prSet/>
      <dgm:spPr/>
      <dgm:t>
        <a:bodyPr/>
        <a:lstStyle/>
        <a:p>
          <a:endParaRPr lang="en-US"/>
        </a:p>
      </dgm:t>
    </dgm:pt>
    <dgm:pt modelId="{4795268A-62C9-403E-9EF7-FA1DFE6AD4E2}" type="sibTrans" cxnId="{8A6F8C39-0A13-4A7A-8E4C-DFDD79CC68FB}">
      <dgm:prSet phldrT="6" phldr="0"/>
      <dgm:spPr/>
      <dgm:t>
        <a:bodyPr/>
        <a:lstStyle/>
        <a:p>
          <a:endParaRPr lang="en-US"/>
        </a:p>
      </dgm:t>
    </dgm:pt>
    <dgm:pt modelId="{16B8936C-9414-4E07-AC3C-8C0232388FDB}">
      <dgm:prSet/>
      <dgm:spPr/>
      <dgm:t>
        <a:bodyPr/>
        <a:lstStyle/>
        <a:p>
          <a:r>
            <a:rPr lang="en-US" b="0" i="0" dirty="0">
              <a:latin typeface="Times New Roman" panose="02020603050405020304" pitchFamily="18" charset="0"/>
              <a:cs typeface="Times New Roman" panose="02020603050405020304" pitchFamily="18" charset="0"/>
            </a:rPr>
            <a:t>Give recommendations for potential business changes that can be made.</a:t>
          </a:r>
          <a:endParaRPr lang="en-US" dirty="0">
            <a:latin typeface="Times New Roman" panose="02020603050405020304" pitchFamily="18" charset="0"/>
            <a:cs typeface="Times New Roman" panose="02020603050405020304" pitchFamily="18" charset="0"/>
          </a:endParaRPr>
        </a:p>
      </dgm:t>
    </dgm:pt>
    <dgm:pt modelId="{3F332378-2C44-4F0B-AF61-34DAF0588958}" type="parTrans" cxnId="{F17593EB-1B00-499D-BCF3-0270D04F1244}">
      <dgm:prSet/>
      <dgm:spPr/>
      <dgm:t>
        <a:bodyPr/>
        <a:lstStyle/>
        <a:p>
          <a:endParaRPr lang="en-US"/>
        </a:p>
      </dgm:t>
    </dgm:pt>
    <dgm:pt modelId="{AB45B712-EEAD-4F69-8FFB-4A156EB36507}" type="sibTrans" cxnId="{F17593EB-1B00-499D-BCF3-0270D04F1244}">
      <dgm:prSet phldrT="7" phldr="0"/>
      <dgm:spPr/>
      <dgm:t>
        <a:bodyPr/>
        <a:lstStyle/>
        <a:p>
          <a:endParaRPr lang="en-US"/>
        </a:p>
      </dgm:t>
    </dgm:pt>
    <dgm:pt modelId="{A20284BE-6633-4C2F-A3AD-378DF073E617}" type="pres">
      <dgm:prSet presAssocID="{38D0410C-6971-4516-86E6-F7641971D66D}" presName="vert0" presStyleCnt="0">
        <dgm:presLayoutVars>
          <dgm:dir/>
          <dgm:animOne val="branch"/>
          <dgm:animLvl val="lvl"/>
        </dgm:presLayoutVars>
      </dgm:prSet>
      <dgm:spPr/>
    </dgm:pt>
    <dgm:pt modelId="{23060534-2430-4350-8167-AED8FA9779DA}" type="pres">
      <dgm:prSet presAssocID="{9DBA6C32-FBC5-4A68-A60C-F9C59E79F222}" presName="thickLine" presStyleLbl="alignNode1" presStyleIdx="0" presStyleCnt="7"/>
      <dgm:spPr/>
    </dgm:pt>
    <dgm:pt modelId="{D7BD5B82-96BF-4BCE-A174-9A5DF5401E1F}" type="pres">
      <dgm:prSet presAssocID="{9DBA6C32-FBC5-4A68-A60C-F9C59E79F222}" presName="horz1" presStyleCnt="0"/>
      <dgm:spPr/>
    </dgm:pt>
    <dgm:pt modelId="{F9F8A6EE-7B02-43E3-929F-4EBDE1C932B1}" type="pres">
      <dgm:prSet presAssocID="{9DBA6C32-FBC5-4A68-A60C-F9C59E79F222}" presName="tx1" presStyleLbl="revTx" presStyleIdx="0" presStyleCnt="7"/>
      <dgm:spPr/>
    </dgm:pt>
    <dgm:pt modelId="{F6648FB5-309D-46C1-86EF-CB2E3C20214F}" type="pres">
      <dgm:prSet presAssocID="{9DBA6C32-FBC5-4A68-A60C-F9C59E79F222}" presName="vert1" presStyleCnt="0"/>
      <dgm:spPr/>
    </dgm:pt>
    <dgm:pt modelId="{31AC7C53-340D-4E1C-AE35-C9773DD96698}" type="pres">
      <dgm:prSet presAssocID="{39A8A3F6-795B-4097-925A-1AF08E7697D2}" presName="thickLine" presStyleLbl="alignNode1" presStyleIdx="1" presStyleCnt="7"/>
      <dgm:spPr/>
    </dgm:pt>
    <dgm:pt modelId="{A31A8121-C8CD-46C0-A9FA-E270D7A0F59A}" type="pres">
      <dgm:prSet presAssocID="{39A8A3F6-795B-4097-925A-1AF08E7697D2}" presName="horz1" presStyleCnt="0"/>
      <dgm:spPr/>
    </dgm:pt>
    <dgm:pt modelId="{B073BF89-BF21-423C-BA89-46C1F8E60BA0}" type="pres">
      <dgm:prSet presAssocID="{39A8A3F6-795B-4097-925A-1AF08E7697D2}" presName="tx1" presStyleLbl="revTx" presStyleIdx="1" presStyleCnt="7"/>
      <dgm:spPr/>
    </dgm:pt>
    <dgm:pt modelId="{642644B2-9ECC-4752-8E00-B7D0FB6110A7}" type="pres">
      <dgm:prSet presAssocID="{39A8A3F6-795B-4097-925A-1AF08E7697D2}" presName="vert1" presStyleCnt="0"/>
      <dgm:spPr/>
    </dgm:pt>
    <dgm:pt modelId="{44F2B517-D0F9-473D-8690-24B684E6449C}" type="pres">
      <dgm:prSet presAssocID="{7EC4D101-F9A1-42A3-B202-F0378378C265}" presName="thickLine" presStyleLbl="alignNode1" presStyleIdx="2" presStyleCnt="7"/>
      <dgm:spPr/>
    </dgm:pt>
    <dgm:pt modelId="{F4FD665A-FBFA-4A4C-AE2A-A29F8699CE9F}" type="pres">
      <dgm:prSet presAssocID="{7EC4D101-F9A1-42A3-B202-F0378378C265}" presName="horz1" presStyleCnt="0"/>
      <dgm:spPr/>
    </dgm:pt>
    <dgm:pt modelId="{40CAB07C-81C6-4C7C-B33F-DE9D9F0B742B}" type="pres">
      <dgm:prSet presAssocID="{7EC4D101-F9A1-42A3-B202-F0378378C265}" presName="tx1" presStyleLbl="revTx" presStyleIdx="2" presStyleCnt="7"/>
      <dgm:spPr/>
    </dgm:pt>
    <dgm:pt modelId="{67B10261-ED7E-4BA9-81AF-4BF76453B68F}" type="pres">
      <dgm:prSet presAssocID="{7EC4D101-F9A1-42A3-B202-F0378378C265}" presName="vert1" presStyleCnt="0"/>
      <dgm:spPr/>
    </dgm:pt>
    <dgm:pt modelId="{3F3D2AC5-87C1-415F-8903-CD8B2DA941D3}" type="pres">
      <dgm:prSet presAssocID="{77D0A728-6AB7-4765-8C1D-3E0D65D80A46}" presName="thickLine" presStyleLbl="alignNode1" presStyleIdx="3" presStyleCnt="7"/>
      <dgm:spPr/>
    </dgm:pt>
    <dgm:pt modelId="{9F945B62-DE9D-473A-B1DD-8699FC981862}" type="pres">
      <dgm:prSet presAssocID="{77D0A728-6AB7-4765-8C1D-3E0D65D80A46}" presName="horz1" presStyleCnt="0"/>
      <dgm:spPr/>
    </dgm:pt>
    <dgm:pt modelId="{D2A3D9B8-3B97-4FA8-B282-D5B7D5C029E2}" type="pres">
      <dgm:prSet presAssocID="{77D0A728-6AB7-4765-8C1D-3E0D65D80A46}" presName="tx1" presStyleLbl="revTx" presStyleIdx="3" presStyleCnt="7"/>
      <dgm:spPr/>
    </dgm:pt>
    <dgm:pt modelId="{DD302D6F-5C62-484D-A18D-F9927B6A2F14}" type="pres">
      <dgm:prSet presAssocID="{77D0A728-6AB7-4765-8C1D-3E0D65D80A46}" presName="vert1" presStyleCnt="0"/>
      <dgm:spPr/>
    </dgm:pt>
    <dgm:pt modelId="{92317225-7F8D-494F-9E47-51A9A39C4CA9}" type="pres">
      <dgm:prSet presAssocID="{D6B5AFAB-B9AA-4DD7-B55D-C6DC8701159F}" presName="thickLine" presStyleLbl="alignNode1" presStyleIdx="4" presStyleCnt="7"/>
      <dgm:spPr/>
    </dgm:pt>
    <dgm:pt modelId="{2B292560-1C49-4EC0-8BC5-D96DB6B94E21}" type="pres">
      <dgm:prSet presAssocID="{D6B5AFAB-B9AA-4DD7-B55D-C6DC8701159F}" presName="horz1" presStyleCnt="0"/>
      <dgm:spPr/>
    </dgm:pt>
    <dgm:pt modelId="{FE78486E-7FA7-4FD8-904A-3CEF296C9770}" type="pres">
      <dgm:prSet presAssocID="{D6B5AFAB-B9AA-4DD7-B55D-C6DC8701159F}" presName="tx1" presStyleLbl="revTx" presStyleIdx="4" presStyleCnt="7"/>
      <dgm:spPr/>
    </dgm:pt>
    <dgm:pt modelId="{17073B90-C5DB-472F-9828-B9EF4D946358}" type="pres">
      <dgm:prSet presAssocID="{D6B5AFAB-B9AA-4DD7-B55D-C6DC8701159F}" presName="vert1" presStyleCnt="0"/>
      <dgm:spPr/>
    </dgm:pt>
    <dgm:pt modelId="{E56131A7-A9AE-4DFC-B647-0D8606DDD7D9}" type="pres">
      <dgm:prSet presAssocID="{D2F3D24A-9B39-4D05-B2A6-57D006A654AA}" presName="thickLine" presStyleLbl="alignNode1" presStyleIdx="5" presStyleCnt="7"/>
      <dgm:spPr/>
    </dgm:pt>
    <dgm:pt modelId="{F1076BCF-5BE5-48F5-86B4-F5986B6EB8FB}" type="pres">
      <dgm:prSet presAssocID="{D2F3D24A-9B39-4D05-B2A6-57D006A654AA}" presName="horz1" presStyleCnt="0"/>
      <dgm:spPr/>
    </dgm:pt>
    <dgm:pt modelId="{F9F57778-41D6-4ED4-93BA-2AD2FA024FE3}" type="pres">
      <dgm:prSet presAssocID="{D2F3D24A-9B39-4D05-B2A6-57D006A654AA}" presName="tx1" presStyleLbl="revTx" presStyleIdx="5" presStyleCnt="7"/>
      <dgm:spPr/>
    </dgm:pt>
    <dgm:pt modelId="{5A371966-7CEA-4604-8DF5-FF5C6B783532}" type="pres">
      <dgm:prSet presAssocID="{D2F3D24A-9B39-4D05-B2A6-57D006A654AA}" presName="vert1" presStyleCnt="0"/>
      <dgm:spPr/>
    </dgm:pt>
    <dgm:pt modelId="{F2EF146C-AC0F-42A9-9F10-0C594707E18B}" type="pres">
      <dgm:prSet presAssocID="{16B8936C-9414-4E07-AC3C-8C0232388FDB}" presName="thickLine" presStyleLbl="alignNode1" presStyleIdx="6" presStyleCnt="7"/>
      <dgm:spPr/>
    </dgm:pt>
    <dgm:pt modelId="{6C2F7A2B-D713-4249-A137-339805204BE1}" type="pres">
      <dgm:prSet presAssocID="{16B8936C-9414-4E07-AC3C-8C0232388FDB}" presName="horz1" presStyleCnt="0"/>
      <dgm:spPr/>
    </dgm:pt>
    <dgm:pt modelId="{7E61792B-AD7E-4D81-9145-C7850219AD64}" type="pres">
      <dgm:prSet presAssocID="{16B8936C-9414-4E07-AC3C-8C0232388FDB}" presName="tx1" presStyleLbl="revTx" presStyleIdx="6" presStyleCnt="7"/>
      <dgm:spPr/>
    </dgm:pt>
    <dgm:pt modelId="{73C99B0E-EA0C-436E-B376-989E7D582A37}" type="pres">
      <dgm:prSet presAssocID="{16B8936C-9414-4E07-AC3C-8C0232388FDB}" presName="vert1" presStyleCnt="0"/>
      <dgm:spPr/>
    </dgm:pt>
  </dgm:ptLst>
  <dgm:cxnLst>
    <dgm:cxn modelId="{41E7D823-1167-4A62-B0F3-BEB510E77823}" srcId="{38D0410C-6971-4516-86E6-F7641971D66D}" destId="{77D0A728-6AB7-4765-8C1D-3E0D65D80A46}" srcOrd="3" destOrd="0" parTransId="{02725076-7C88-48AC-A1B5-B2E387B2AD5B}" sibTransId="{C8497DC4-B406-42BF-A599-F15B43561591}"/>
    <dgm:cxn modelId="{66C88325-EB65-4614-915C-838875081A9E}" type="presOf" srcId="{16B8936C-9414-4E07-AC3C-8C0232388FDB}" destId="{7E61792B-AD7E-4D81-9145-C7850219AD64}" srcOrd="0" destOrd="0" presId="urn:microsoft.com/office/officeart/2008/layout/LinedList"/>
    <dgm:cxn modelId="{BB0D862D-A259-4228-AD1D-2EF43ECF833C}" srcId="{38D0410C-6971-4516-86E6-F7641971D66D}" destId="{D6B5AFAB-B9AA-4DD7-B55D-C6DC8701159F}" srcOrd="4" destOrd="0" parTransId="{DCCFC526-DB32-4A0C-BED1-FF31287F9C41}" sibTransId="{9388EE18-E9A9-4846-B552-56AF9181F7CF}"/>
    <dgm:cxn modelId="{57C30B38-96CA-45C9-8CB2-1285EAA524B9}" type="presOf" srcId="{D6B5AFAB-B9AA-4DD7-B55D-C6DC8701159F}" destId="{FE78486E-7FA7-4FD8-904A-3CEF296C9770}" srcOrd="0" destOrd="0" presId="urn:microsoft.com/office/officeart/2008/layout/LinedList"/>
    <dgm:cxn modelId="{8A6F8C39-0A13-4A7A-8E4C-DFDD79CC68FB}" srcId="{38D0410C-6971-4516-86E6-F7641971D66D}" destId="{D2F3D24A-9B39-4D05-B2A6-57D006A654AA}" srcOrd="5" destOrd="0" parTransId="{F1D3FDD6-99C5-4118-81CD-9ADA0FE0B3DA}" sibTransId="{4795268A-62C9-403E-9EF7-FA1DFE6AD4E2}"/>
    <dgm:cxn modelId="{849C573E-7A15-4F75-99DD-0131EC6C08DA}" srcId="{38D0410C-6971-4516-86E6-F7641971D66D}" destId="{39A8A3F6-795B-4097-925A-1AF08E7697D2}" srcOrd="1" destOrd="0" parTransId="{56A5446C-AA76-4246-8D5D-4DAFE8D149AA}" sibTransId="{23EC62DB-DA31-4001-BAA0-41892120E24D}"/>
    <dgm:cxn modelId="{194DAC58-9A47-40FF-B7C5-B854D64A38A8}" type="presOf" srcId="{77D0A728-6AB7-4765-8C1D-3E0D65D80A46}" destId="{D2A3D9B8-3B97-4FA8-B282-D5B7D5C029E2}" srcOrd="0" destOrd="0" presId="urn:microsoft.com/office/officeart/2008/layout/LinedList"/>
    <dgm:cxn modelId="{05D0838A-9207-44EE-9026-21487E1A0F33}" srcId="{38D0410C-6971-4516-86E6-F7641971D66D}" destId="{9DBA6C32-FBC5-4A68-A60C-F9C59E79F222}" srcOrd="0" destOrd="0" parTransId="{02821AB7-AC4C-4FB6-944F-9F9147830504}" sibTransId="{4587ABE7-4A9B-4016-A9B5-ADF4A32E24BE}"/>
    <dgm:cxn modelId="{8390D78B-895F-45DD-B61E-51C6E7C931BA}" type="presOf" srcId="{38D0410C-6971-4516-86E6-F7641971D66D}" destId="{A20284BE-6633-4C2F-A3AD-378DF073E617}" srcOrd="0" destOrd="0" presId="urn:microsoft.com/office/officeart/2008/layout/LinedList"/>
    <dgm:cxn modelId="{B1CFCBAD-9430-415B-9979-881E755D9AF2}" srcId="{38D0410C-6971-4516-86E6-F7641971D66D}" destId="{7EC4D101-F9A1-42A3-B202-F0378378C265}" srcOrd="2" destOrd="0" parTransId="{8ADF40DB-EF68-4822-9832-C07644101695}" sibTransId="{D33C3C06-C6DD-45B5-85DB-50787575546D}"/>
    <dgm:cxn modelId="{066CAFB0-5BC2-49BF-B23E-2C3D20AA975F}" type="presOf" srcId="{D2F3D24A-9B39-4D05-B2A6-57D006A654AA}" destId="{F9F57778-41D6-4ED4-93BA-2AD2FA024FE3}" srcOrd="0" destOrd="0" presId="urn:microsoft.com/office/officeart/2008/layout/LinedList"/>
    <dgm:cxn modelId="{011195C6-DFDE-449A-922E-7832A8CB7A2C}" type="presOf" srcId="{9DBA6C32-FBC5-4A68-A60C-F9C59E79F222}" destId="{F9F8A6EE-7B02-43E3-929F-4EBDE1C932B1}" srcOrd="0" destOrd="0" presId="urn:microsoft.com/office/officeart/2008/layout/LinedList"/>
    <dgm:cxn modelId="{B724E4CB-1E63-45BF-8E52-D66281F09FCA}" type="presOf" srcId="{39A8A3F6-795B-4097-925A-1AF08E7697D2}" destId="{B073BF89-BF21-423C-BA89-46C1F8E60BA0}" srcOrd="0" destOrd="0" presId="urn:microsoft.com/office/officeart/2008/layout/LinedList"/>
    <dgm:cxn modelId="{F17593EB-1B00-499D-BCF3-0270D04F1244}" srcId="{38D0410C-6971-4516-86E6-F7641971D66D}" destId="{16B8936C-9414-4E07-AC3C-8C0232388FDB}" srcOrd="6" destOrd="0" parTransId="{3F332378-2C44-4F0B-AF61-34DAF0588958}" sibTransId="{AB45B712-EEAD-4F69-8FFB-4A156EB36507}"/>
    <dgm:cxn modelId="{26A3B6F5-3B64-4770-9D20-FEE0E93D48E1}" type="presOf" srcId="{7EC4D101-F9A1-42A3-B202-F0378378C265}" destId="{40CAB07C-81C6-4C7C-B33F-DE9D9F0B742B}" srcOrd="0" destOrd="0" presId="urn:microsoft.com/office/officeart/2008/layout/LinedList"/>
    <dgm:cxn modelId="{AAAEF342-EC7A-45CF-892F-0F65AAC86170}" type="presParOf" srcId="{A20284BE-6633-4C2F-A3AD-378DF073E617}" destId="{23060534-2430-4350-8167-AED8FA9779DA}" srcOrd="0" destOrd="0" presId="urn:microsoft.com/office/officeart/2008/layout/LinedList"/>
    <dgm:cxn modelId="{7A3E6B18-7967-4698-B30D-92C904F1F825}" type="presParOf" srcId="{A20284BE-6633-4C2F-A3AD-378DF073E617}" destId="{D7BD5B82-96BF-4BCE-A174-9A5DF5401E1F}" srcOrd="1" destOrd="0" presId="urn:microsoft.com/office/officeart/2008/layout/LinedList"/>
    <dgm:cxn modelId="{DF8DA1BE-FB3B-4974-963B-48E739C506D6}" type="presParOf" srcId="{D7BD5B82-96BF-4BCE-A174-9A5DF5401E1F}" destId="{F9F8A6EE-7B02-43E3-929F-4EBDE1C932B1}" srcOrd="0" destOrd="0" presId="urn:microsoft.com/office/officeart/2008/layout/LinedList"/>
    <dgm:cxn modelId="{D511638F-1E88-4A74-ADFE-E8C1E65706EA}" type="presParOf" srcId="{D7BD5B82-96BF-4BCE-A174-9A5DF5401E1F}" destId="{F6648FB5-309D-46C1-86EF-CB2E3C20214F}" srcOrd="1" destOrd="0" presId="urn:microsoft.com/office/officeart/2008/layout/LinedList"/>
    <dgm:cxn modelId="{D216116A-3C74-4D8C-B411-60637F13F168}" type="presParOf" srcId="{A20284BE-6633-4C2F-A3AD-378DF073E617}" destId="{31AC7C53-340D-4E1C-AE35-C9773DD96698}" srcOrd="2" destOrd="0" presId="urn:microsoft.com/office/officeart/2008/layout/LinedList"/>
    <dgm:cxn modelId="{6F812346-C769-43EF-984D-3A05CD4321D3}" type="presParOf" srcId="{A20284BE-6633-4C2F-A3AD-378DF073E617}" destId="{A31A8121-C8CD-46C0-A9FA-E270D7A0F59A}" srcOrd="3" destOrd="0" presId="urn:microsoft.com/office/officeart/2008/layout/LinedList"/>
    <dgm:cxn modelId="{19BDFF8C-28F2-4FD1-8E75-34663307948A}" type="presParOf" srcId="{A31A8121-C8CD-46C0-A9FA-E270D7A0F59A}" destId="{B073BF89-BF21-423C-BA89-46C1F8E60BA0}" srcOrd="0" destOrd="0" presId="urn:microsoft.com/office/officeart/2008/layout/LinedList"/>
    <dgm:cxn modelId="{EACA5890-D4CA-408C-9C5E-CCB0E46FCA6B}" type="presParOf" srcId="{A31A8121-C8CD-46C0-A9FA-E270D7A0F59A}" destId="{642644B2-9ECC-4752-8E00-B7D0FB6110A7}" srcOrd="1" destOrd="0" presId="urn:microsoft.com/office/officeart/2008/layout/LinedList"/>
    <dgm:cxn modelId="{7081B961-98E4-4723-8D49-00178D96FD8F}" type="presParOf" srcId="{A20284BE-6633-4C2F-A3AD-378DF073E617}" destId="{44F2B517-D0F9-473D-8690-24B684E6449C}" srcOrd="4" destOrd="0" presId="urn:microsoft.com/office/officeart/2008/layout/LinedList"/>
    <dgm:cxn modelId="{3E2AC509-273E-41BD-B07D-B0AD338B5384}" type="presParOf" srcId="{A20284BE-6633-4C2F-A3AD-378DF073E617}" destId="{F4FD665A-FBFA-4A4C-AE2A-A29F8699CE9F}" srcOrd="5" destOrd="0" presId="urn:microsoft.com/office/officeart/2008/layout/LinedList"/>
    <dgm:cxn modelId="{8D285CBE-AE23-4C2E-B01C-B9AEB2C90AD0}" type="presParOf" srcId="{F4FD665A-FBFA-4A4C-AE2A-A29F8699CE9F}" destId="{40CAB07C-81C6-4C7C-B33F-DE9D9F0B742B}" srcOrd="0" destOrd="0" presId="urn:microsoft.com/office/officeart/2008/layout/LinedList"/>
    <dgm:cxn modelId="{F7EAE2A2-0CBF-4A1E-8607-7E67025DD702}" type="presParOf" srcId="{F4FD665A-FBFA-4A4C-AE2A-A29F8699CE9F}" destId="{67B10261-ED7E-4BA9-81AF-4BF76453B68F}" srcOrd="1" destOrd="0" presId="urn:microsoft.com/office/officeart/2008/layout/LinedList"/>
    <dgm:cxn modelId="{47D89A0C-E66A-4C7A-8B34-47015627E952}" type="presParOf" srcId="{A20284BE-6633-4C2F-A3AD-378DF073E617}" destId="{3F3D2AC5-87C1-415F-8903-CD8B2DA941D3}" srcOrd="6" destOrd="0" presId="urn:microsoft.com/office/officeart/2008/layout/LinedList"/>
    <dgm:cxn modelId="{77329869-86ED-426D-9ED4-9A8B3F2A0465}" type="presParOf" srcId="{A20284BE-6633-4C2F-A3AD-378DF073E617}" destId="{9F945B62-DE9D-473A-B1DD-8699FC981862}" srcOrd="7" destOrd="0" presId="urn:microsoft.com/office/officeart/2008/layout/LinedList"/>
    <dgm:cxn modelId="{1CAF8854-D098-4393-AD70-10FDD88DB749}" type="presParOf" srcId="{9F945B62-DE9D-473A-B1DD-8699FC981862}" destId="{D2A3D9B8-3B97-4FA8-B282-D5B7D5C029E2}" srcOrd="0" destOrd="0" presId="urn:microsoft.com/office/officeart/2008/layout/LinedList"/>
    <dgm:cxn modelId="{61138401-C3F7-41F9-8F7C-2C3B108BD5D8}" type="presParOf" srcId="{9F945B62-DE9D-473A-B1DD-8699FC981862}" destId="{DD302D6F-5C62-484D-A18D-F9927B6A2F14}" srcOrd="1" destOrd="0" presId="urn:microsoft.com/office/officeart/2008/layout/LinedList"/>
    <dgm:cxn modelId="{E7A58E30-BE74-45C0-B2E9-8379EEF9AE0C}" type="presParOf" srcId="{A20284BE-6633-4C2F-A3AD-378DF073E617}" destId="{92317225-7F8D-494F-9E47-51A9A39C4CA9}" srcOrd="8" destOrd="0" presId="urn:microsoft.com/office/officeart/2008/layout/LinedList"/>
    <dgm:cxn modelId="{72933EDE-402D-4380-85D4-69DE6B4EC340}" type="presParOf" srcId="{A20284BE-6633-4C2F-A3AD-378DF073E617}" destId="{2B292560-1C49-4EC0-8BC5-D96DB6B94E21}" srcOrd="9" destOrd="0" presId="urn:microsoft.com/office/officeart/2008/layout/LinedList"/>
    <dgm:cxn modelId="{05E630FA-FA9F-4B1B-903E-987B5D88E75A}" type="presParOf" srcId="{2B292560-1C49-4EC0-8BC5-D96DB6B94E21}" destId="{FE78486E-7FA7-4FD8-904A-3CEF296C9770}" srcOrd="0" destOrd="0" presId="urn:microsoft.com/office/officeart/2008/layout/LinedList"/>
    <dgm:cxn modelId="{924B7964-B2C3-4304-9C08-CD3F73C9472C}" type="presParOf" srcId="{2B292560-1C49-4EC0-8BC5-D96DB6B94E21}" destId="{17073B90-C5DB-472F-9828-B9EF4D946358}" srcOrd="1" destOrd="0" presId="urn:microsoft.com/office/officeart/2008/layout/LinedList"/>
    <dgm:cxn modelId="{C4A197E7-0ACB-4555-A54C-E6909C9D1BB1}" type="presParOf" srcId="{A20284BE-6633-4C2F-A3AD-378DF073E617}" destId="{E56131A7-A9AE-4DFC-B647-0D8606DDD7D9}" srcOrd="10" destOrd="0" presId="urn:microsoft.com/office/officeart/2008/layout/LinedList"/>
    <dgm:cxn modelId="{409F4F34-5EE3-4343-9569-0B67E7BD03ED}" type="presParOf" srcId="{A20284BE-6633-4C2F-A3AD-378DF073E617}" destId="{F1076BCF-5BE5-48F5-86B4-F5986B6EB8FB}" srcOrd="11" destOrd="0" presId="urn:microsoft.com/office/officeart/2008/layout/LinedList"/>
    <dgm:cxn modelId="{013863D4-864C-4BCA-A719-8D32DA5942B5}" type="presParOf" srcId="{F1076BCF-5BE5-48F5-86B4-F5986B6EB8FB}" destId="{F9F57778-41D6-4ED4-93BA-2AD2FA024FE3}" srcOrd="0" destOrd="0" presId="urn:microsoft.com/office/officeart/2008/layout/LinedList"/>
    <dgm:cxn modelId="{961DD55D-53F4-42EA-BD9C-3A9510BB0B7F}" type="presParOf" srcId="{F1076BCF-5BE5-48F5-86B4-F5986B6EB8FB}" destId="{5A371966-7CEA-4604-8DF5-FF5C6B783532}" srcOrd="1" destOrd="0" presId="urn:microsoft.com/office/officeart/2008/layout/LinedList"/>
    <dgm:cxn modelId="{ED0767F1-3C09-4F34-A52E-CB7D22F8CC93}" type="presParOf" srcId="{A20284BE-6633-4C2F-A3AD-378DF073E617}" destId="{F2EF146C-AC0F-42A9-9F10-0C594707E18B}" srcOrd="12" destOrd="0" presId="urn:microsoft.com/office/officeart/2008/layout/LinedList"/>
    <dgm:cxn modelId="{5B44129A-537E-4943-94A6-822AD2CA8AE8}" type="presParOf" srcId="{A20284BE-6633-4C2F-A3AD-378DF073E617}" destId="{6C2F7A2B-D713-4249-A137-339805204BE1}" srcOrd="13" destOrd="0" presId="urn:microsoft.com/office/officeart/2008/layout/LinedList"/>
    <dgm:cxn modelId="{F380E35F-20D4-4AEE-8970-D2F82BE3CE9D}" type="presParOf" srcId="{6C2F7A2B-D713-4249-A137-339805204BE1}" destId="{7E61792B-AD7E-4D81-9145-C7850219AD64}" srcOrd="0" destOrd="0" presId="urn:microsoft.com/office/officeart/2008/layout/LinedList"/>
    <dgm:cxn modelId="{081B84C8-4893-4F20-83CE-F37E4EF04FDE}" type="presParOf" srcId="{6C2F7A2B-D713-4249-A137-339805204BE1}" destId="{73C99B0E-EA0C-436E-B376-989E7D582A3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FE03BC-04E8-40D2-9932-415CF33F95CC}" type="doc">
      <dgm:prSet loTypeId="urn:microsoft.com/office/officeart/2008/layout/LinedList" loCatId="list" qsTypeId="urn:microsoft.com/office/officeart/2005/8/quickstyle/simple2" qsCatId="simple" csTypeId="urn:microsoft.com/office/officeart/2005/8/colors/accent6_2" csCatId="accent6" phldr="1"/>
      <dgm:spPr/>
      <dgm:t>
        <a:bodyPr/>
        <a:lstStyle/>
        <a:p>
          <a:endParaRPr lang="en-US"/>
        </a:p>
      </dgm:t>
    </dgm:pt>
    <dgm:pt modelId="{1C6516E1-0053-494F-A155-A6E91E8D365A}">
      <dgm:prSet/>
      <dgm:spPr/>
      <dgm:t>
        <a:bodyPr/>
        <a:lstStyle/>
        <a:p>
          <a:pPr algn="ctr"/>
          <a:r>
            <a:rPr lang="en-US" b="1" u="sng" dirty="0"/>
            <a:t>Business Recommendations</a:t>
          </a:r>
          <a:endParaRPr lang="en-US" u="sng" dirty="0"/>
        </a:p>
      </dgm:t>
    </dgm:pt>
    <dgm:pt modelId="{12EC4A17-E292-4914-8C6B-D1591E74B216}" type="parTrans" cxnId="{42767766-3666-4E04-A455-021D28DE148C}">
      <dgm:prSet/>
      <dgm:spPr/>
      <dgm:t>
        <a:bodyPr/>
        <a:lstStyle/>
        <a:p>
          <a:endParaRPr lang="en-US"/>
        </a:p>
      </dgm:t>
    </dgm:pt>
    <dgm:pt modelId="{9701A1AF-DA2B-4166-B82D-383B18372547}" type="sibTrans" cxnId="{42767766-3666-4E04-A455-021D28DE148C}">
      <dgm:prSet/>
      <dgm:spPr/>
      <dgm:t>
        <a:bodyPr/>
        <a:lstStyle/>
        <a:p>
          <a:endParaRPr lang="en-US"/>
        </a:p>
      </dgm:t>
    </dgm:pt>
    <dgm:pt modelId="{9DE3A88C-76A1-4F35-B015-5B56A2F87F0E}">
      <dgm:prSet/>
      <dgm:spPr/>
      <dgm:t>
        <a:bodyPr/>
        <a:lstStyle/>
        <a:p>
          <a:r>
            <a:rPr lang="en-US" b="1"/>
            <a:t>Strengthen Behavioral Monitoring</a:t>
          </a:r>
          <a:endParaRPr lang="en-US"/>
        </a:p>
      </dgm:t>
    </dgm:pt>
    <dgm:pt modelId="{E8954A93-5268-4CF2-B820-35725BE3E758}" type="parTrans" cxnId="{C10710F6-CEFC-4857-A6B7-ABBA2DFB3E70}">
      <dgm:prSet/>
      <dgm:spPr/>
      <dgm:t>
        <a:bodyPr/>
        <a:lstStyle/>
        <a:p>
          <a:endParaRPr lang="en-US"/>
        </a:p>
      </dgm:t>
    </dgm:pt>
    <dgm:pt modelId="{6B2CA832-CBD5-4699-890D-75A057F40D2D}" type="sibTrans" cxnId="{C10710F6-CEFC-4857-A6B7-ABBA2DFB3E70}">
      <dgm:prSet/>
      <dgm:spPr/>
      <dgm:t>
        <a:bodyPr/>
        <a:lstStyle/>
        <a:p>
          <a:endParaRPr lang="en-US"/>
        </a:p>
      </dgm:t>
    </dgm:pt>
    <dgm:pt modelId="{A6E34B0A-75CB-4B52-997C-8C98C2512966}">
      <dgm:prSet/>
      <dgm:spPr/>
      <dgm:t>
        <a:bodyPr/>
        <a:lstStyle/>
        <a:p>
          <a:r>
            <a:rPr lang="en-US" dirty="0"/>
            <a:t>Implement velocity rules (e.g., flag &gt;6 transactions within 24 hours)</a:t>
          </a:r>
        </a:p>
      </dgm:t>
    </dgm:pt>
    <dgm:pt modelId="{C62BCFE7-6319-4C0B-883E-B2AC9CD5CB8B}" type="parTrans" cxnId="{046C168C-F390-4A74-BBFB-7DC861C5757F}">
      <dgm:prSet/>
      <dgm:spPr/>
      <dgm:t>
        <a:bodyPr/>
        <a:lstStyle/>
        <a:p>
          <a:endParaRPr lang="en-US"/>
        </a:p>
      </dgm:t>
    </dgm:pt>
    <dgm:pt modelId="{15FAD246-497B-434E-A322-C29FEC16F387}" type="sibTrans" cxnId="{046C168C-F390-4A74-BBFB-7DC861C5757F}">
      <dgm:prSet/>
      <dgm:spPr/>
      <dgm:t>
        <a:bodyPr/>
        <a:lstStyle/>
        <a:p>
          <a:endParaRPr lang="en-US"/>
        </a:p>
      </dgm:t>
    </dgm:pt>
    <dgm:pt modelId="{C7329341-CC3B-4C26-AC78-D81E781E09DE}">
      <dgm:prSet/>
      <dgm:spPr/>
      <dgm:t>
        <a:bodyPr/>
        <a:lstStyle/>
        <a:p>
          <a:r>
            <a:rPr lang="en-US" dirty="0"/>
            <a:t>Use timing-based alerts for rapid back-to-back transactions</a:t>
          </a:r>
        </a:p>
      </dgm:t>
    </dgm:pt>
    <dgm:pt modelId="{A5C1DA9F-A210-4E87-A56F-2D4A20CE7794}" type="parTrans" cxnId="{B1FCBD9E-4433-4521-AEE2-3F41F61F2775}">
      <dgm:prSet/>
      <dgm:spPr/>
      <dgm:t>
        <a:bodyPr/>
        <a:lstStyle/>
        <a:p>
          <a:endParaRPr lang="en-US"/>
        </a:p>
      </dgm:t>
    </dgm:pt>
    <dgm:pt modelId="{8AFCFF38-394E-4F3C-9690-2709A386968F}" type="sibTrans" cxnId="{B1FCBD9E-4433-4521-AEE2-3F41F61F2775}">
      <dgm:prSet/>
      <dgm:spPr/>
      <dgm:t>
        <a:bodyPr/>
        <a:lstStyle/>
        <a:p>
          <a:endParaRPr lang="en-US"/>
        </a:p>
      </dgm:t>
    </dgm:pt>
    <dgm:pt modelId="{77351E92-B04C-4B61-8693-69BF977E64A6}">
      <dgm:prSet/>
      <dgm:spPr/>
      <dgm:t>
        <a:bodyPr/>
        <a:lstStyle/>
        <a:p>
          <a:r>
            <a:rPr lang="en-US" b="1"/>
            <a:t>Enhance Transaction Type &amp; Device Risk Scoring</a:t>
          </a:r>
          <a:endParaRPr lang="en-US"/>
        </a:p>
      </dgm:t>
    </dgm:pt>
    <dgm:pt modelId="{AA113121-677E-49BC-AFD8-BB8122578E63}" type="parTrans" cxnId="{ECB9307D-7067-4537-AAB9-67910CC895D2}">
      <dgm:prSet/>
      <dgm:spPr/>
      <dgm:t>
        <a:bodyPr/>
        <a:lstStyle/>
        <a:p>
          <a:endParaRPr lang="en-US"/>
        </a:p>
      </dgm:t>
    </dgm:pt>
    <dgm:pt modelId="{585FECC7-E39E-4DA5-AC34-458970A4CFD9}" type="sibTrans" cxnId="{ECB9307D-7067-4537-AAB9-67910CC895D2}">
      <dgm:prSet/>
      <dgm:spPr/>
      <dgm:t>
        <a:bodyPr/>
        <a:lstStyle/>
        <a:p>
          <a:endParaRPr lang="en-US"/>
        </a:p>
      </dgm:t>
    </dgm:pt>
    <dgm:pt modelId="{77CC24E3-854B-4CBE-9722-697C421B1C41}">
      <dgm:prSet/>
      <dgm:spPr/>
      <dgm:t>
        <a:bodyPr/>
        <a:lstStyle/>
        <a:p>
          <a:r>
            <a:rPr lang="en-US"/>
            <a:t>Assign higher risk scores to:</a:t>
          </a:r>
        </a:p>
      </dgm:t>
    </dgm:pt>
    <dgm:pt modelId="{D29766E1-49AD-4432-B624-50C517DEC9A1}" type="parTrans" cxnId="{8DCE26E6-C74B-4214-8023-9A97CAD4A849}">
      <dgm:prSet/>
      <dgm:spPr/>
      <dgm:t>
        <a:bodyPr/>
        <a:lstStyle/>
        <a:p>
          <a:endParaRPr lang="en-US"/>
        </a:p>
      </dgm:t>
    </dgm:pt>
    <dgm:pt modelId="{8858D745-6755-4BF3-B43E-1E69775A7B2F}" type="sibTrans" cxnId="{8DCE26E6-C74B-4214-8023-9A97CAD4A849}">
      <dgm:prSet/>
      <dgm:spPr/>
      <dgm:t>
        <a:bodyPr/>
        <a:lstStyle/>
        <a:p>
          <a:endParaRPr lang="en-US"/>
        </a:p>
      </dgm:t>
    </dgm:pt>
    <dgm:pt modelId="{5ED60069-AB05-48B4-9DA9-74DC8C05BC3C}">
      <dgm:prSet/>
      <dgm:spPr/>
      <dgm:t>
        <a:bodyPr/>
        <a:lstStyle/>
        <a:p>
          <a:r>
            <a:rPr lang="en-US" b="1" dirty="0"/>
            <a:t>Bank Transfers, POS, Online Purchases, Tablet/Mobile devices</a:t>
          </a:r>
          <a:endParaRPr lang="en-US" dirty="0"/>
        </a:p>
      </dgm:t>
    </dgm:pt>
    <dgm:pt modelId="{448BD930-1470-42F1-A3D5-C31463B79068}" type="parTrans" cxnId="{4E53ADFE-FD79-4641-9ADF-BC0D397F4951}">
      <dgm:prSet/>
      <dgm:spPr/>
      <dgm:t>
        <a:bodyPr/>
        <a:lstStyle/>
        <a:p>
          <a:endParaRPr lang="en-US"/>
        </a:p>
      </dgm:t>
    </dgm:pt>
    <dgm:pt modelId="{2C5D0368-DE45-44E6-A8AA-3F6B11FF8B61}" type="sibTrans" cxnId="{4E53ADFE-FD79-4641-9ADF-BC0D397F4951}">
      <dgm:prSet/>
      <dgm:spPr/>
      <dgm:t>
        <a:bodyPr/>
        <a:lstStyle/>
        <a:p>
          <a:endParaRPr lang="en-US"/>
        </a:p>
      </dgm:t>
    </dgm:pt>
    <dgm:pt modelId="{B2DD091C-627E-48B5-95AE-B8A8E21D38A5}">
      <dgm:prSet/>
      <dgm:spPr/>
      <dgm:t>
        <a:bodyPr/>
        <a:lstStyle/>
        <a:p>
          <a:r>
            <a:rPr lang="en-US"/>
            <a:t>Require additional authentication (OTP, biometric check) for risky combinations</a:t>
          </a:r>
        </a:p>
      </dgm:t>
    </dgm:pt>
    <dgm:pt modelId="{E974F5E5-7793-4A21-BF7D-52FF91CB81C6}" type="parTrans" cxnId="{D32163A9-3A35-4187-8280-CE9F54D4D37B}">
      <dgm:prSet/>
      <dgm:spPr/>
      <dgm:t>
        <a:bodyPr/>
        <a:lstStyle/>
        <a:p>
          <a:endParaRPr lang="en-US"/>
        </a:p>
      </dgm:t>
    </dgm:pt>
    <dgm:pt modelId="{762645DF-8CD0-4B38-AA38-C3F4D2C2275A}" type="sibTrans" cxnId="{D32163A9-3A35-4187-8280-CE9F54D4D37B}">
      <dgm:prSet/>
      <dgm:spPr/>
      <dgm:t>
        <a:bodyPr/>
        <a:lstStyle/>
        <a:p>
          <a:endParaRPr lang="en-US"/>
        </a:p>
      </dgm:t>
    </dgm:pt>
    <dgm:pt modelId="{5D7C4919-2DFF-4451-AE0E-1E83FECBE9D3}">
      <dgm:prSet/>
      <dgm:spPr/>
      <dgm:t>
        <a:bodyPr/>
        <a:lstStyle/>
        <a:p>
          <a:r>
            <a:rPr lang="en-US" b="1"/>
            <a:t>Refine Thresholds to Reduce False Negatives</a:t>
          </a:r>
          <a:endParaRPr lang="en-US"/>
        </a:p>
      </dgm:t>
    </dgm:pt>
    <dgm:pt modelId="{065A2ADF-1D3A-48CC-9D27-6D3A580BBCDF}" type="parTrans" cxnId="{63A9BEB2-414E-4EF9-8707-F72379B5212B}">
      <dgm:prSet/>
      <dgm:spPr/>
      <dgm:t>
        <a:bodyPr/>
        <a:lstStyle/>
        <a:p>
          <a:endParaRPr lang="en-US"/>
        </a:p>
      </dgm:t>
    </dgm:pt>
    <dgm:pt modelId="{9ED919A5-54C2-4D86-BA3B-BE2668E925C5}" type="sibTrans" cxnId="{63A9BEB2-414E-4EF9-8707-F72379B5212B}">
      <dgm:prSet/>
      <dgm:spPr/>
      <dgm:t>
        <a:bodyPr/>
        <a:lstStyle/>
        <a:p>
          <a:endParaRPr lang="en-US"/>
        </a:p>
      </dgm:t>
    </dgm:pt>
    <dgm:pt modelId="{E7B0E009-3622-4FCE-B6B7-4DED71835160}">
      <dgm:prSet/>
      <dgm:spPr/>
      <dgm:t>
        <a:bodyPr/>
        <a:lstStyle/>
        <a:p>
          <a:r>
            <a:rPr lang="en-US"/>
            <a:t>Continue using </a:t>
          </a:r>
          <a:r>
            <a:rPr lang="en-US" b="1"/>
            <a:t>lower classification thresholds</a:t>
          </a:r>
          <a:r>
            <a:rPr lang="en-US"/>
            <a:t> to catch more fraud</a:t>
          </a:r>
        </a:p>
      </dgm:t>
    </dgm:pt>
    <dgm:pt modelId="{1B8F68B7-C5E1-43E6-9EEB-B2D61FF73F24}" type="parTrans" cxnId="{9E6CBEC7-F8CC-4503-9842-09D5CDF707B2}">
      <dgm:prSet/>
      <dgm:spPr/>
      <dgm:t>
        <a:bodyPr/>
        <a:lstStyle/>
        <a:p>
          <a:endParaRPr lang="en-US"/>
        </a:p>
      </dgm:t>
    </dgm:pt>
    <dgm:pt modelId="{4929F403-7623-446B-B0B9-FA2C24BB7E6A}" type="sibTrans" cxnId="{9E6CBEC7-F8CC-4503-9842-09D5CDF707B2}">
      <dgm:prSet/>
      <dgm:spPr/>
      <dgm:t>
        <a:bodyPr/>
        <a:lstStyle/>
        <a:p>
          <a:endParaRPr lang="en-US"/>
        </a:p>
      </dgm:t>
    </dgm:pt>
    <dgm:pt modelId="{77DE1D25-3547-4F97-8398-64165104C0B0}">
      <dgm:prSet/>
      <dgm:spPr/>
      <dgm:t>
        <a:bodyPr/>
        <a:lstStyle/>
        <a:p>
          <a:r>
            <a:rPr lang="en-US"/>
            <a:t>Apply dynamic thresholds based on risk level rather than a fixed cutoff</a:t>
          </a:r>
        </a:p>
      </dgm:t>
    </dgm:pt>
    <dgm:pt modelId="{12476334-9286-4979-8455-A80414404AE4}" type="parTrans" cxnId="{086E6E17-A9BB-4F34-AFBF-7289E2E6974B}">
      <dgm:prSet/>
      <dgm:spPr/>
      <dgm:t>
        <a:bodyPr/>
        <a:lstStyle/>
        <a:p>
          <a:endParaRPr lang="en-US"/>
        </a:p>
      </dgm:t>
    </dgm:pt>
    <dgm:pt modelId="{2BB94ABA-1181-4145-B1FB-999ADD92F4A6}" type="sibTrans" cxnId="{086E6E17-A9BB-4F34-AFBF-7289E2E6974B}">
      <dgm:prSet/>
      <dgm:spPr/>
      <dgm:t>
        <a:bodyPr/>
        <a:lstStyle/>
        <a:p>
          <a:endParaRPr lang="en-US"/>
        </a:p>
      </dgm:t>
    </dgm:pt>
    <dgm:pt modelId="{6D21CFDF-C77E-451C-87A9-A800A6637161}">
      <dgm:prSet/>
      <dgm:spPr/>
      <dgm:t>
        <a:bodyPr/>
        <a:lstStyle/>
        <a:p>
          <a:pPr algn="ctr"/>
          <a:r>
            <a:rPr lang="en-US" b="1" u="sng" dirty="0"/>
            <a:t>Expected Business Impact</a:t>
          </a:r>
          <a:endParaRPr lang="en-US" u="sng" dirty="0"/>
        </a:p>
      </dgm:t>
    </dgm:pt>
    <dgm:pt modelId="{E8D3EEDA-7D69-406F-8BC6-18F8702EC9E0}" type="parTrans" cxnId="{C4DFF97A-1243-464C-93E2-B28E93BB893B}">
      <dgm:prSet/>
      <dgm:spPr/>
      <dgm:t>
        <a:bodyPr/>
        <a:lstStyle/>
        <a:p>
          <a:endParaRPr lang="en-US"/>
        </a:p>
      </dgm:t>
    </dgm:pt>
    <dgm:pt modelId="{479260A7-5AA4-46F6-A224-028A631C70C6}" type="sibTrans" cxnId="{C4DFF97A-1243-464C-93E2-B28E93BB893B}">
      <dgm:prSet/>
      <dgm:spPr/>
      <dgm:t>
        <a:bodyPr/>
        <a:lstStyle/>
        <a:p>
          <a:endParaRPr lang="en-US"/>
        </a:p>
      </dgm:t>
    </dgm:pt>
    <dgm:pt modelId="{5A43E5E1-F3AD-4693-B752-F0B3115BB7F0}">
      <dgm:prSet/>
      <dgm:spPr/>
      <dgm:t>
        <a:bodyPr/>
        <a:lstStyle/>
        <a:p>
          <a:r>
            <a:rPr lang="en-US" b="1"/>
            <a:t>Higher fraud detection rates</a:t>
          </a:r>
          <a:r>
            <a:rPr lang="en-US"/>
            <a:t> through behavioral and device-focused monitoring</a:t>
          </a:r>
        </a:p>
      </dgm:t>
    </dgm:pt>
    <dgm:pt modelId="{128CF3E8-4B4A-415D-ACE1-EBBDF598474B}" type="parTrans" cxnId="{C3634321-DB7D-45CD-85B4-07D4E7FA9575}">
      <dgm:prSet/>
      <dgm:spPr/>
      <dgm:t>
        <a:bodyPr/>
        <a:lstStyle/>
        <a:p>
          <a:endParaRPr lang="en-US"/>
        </a:p>
      </dgm:t>
    </dgm:pt>
    <dgm:pt modelId="{0D82411E-C162-4EF7-A79F-10BC175E1B11}" type="sibTrans" cxnId="{C3634321-DB7D-45CD-85B4-07D4E7FA9575}">
      <dgm:prSet/>
      <dgm:spPr/>
      <dgm:t>
        <a:bodyPr/>
        <a:lstStyle/>
        <a:p>
          <a:endParaRPr lang="en-US"/>
        </a:p>
      </dgm:t>
    </dgm:pt>
    <dgm:pt modelId="{2982EFD6-4751-4DD7-9D53-245302C2D784}">
      <dgm:prSet/>
      <dgm:spPr/>
      <dgm:t>
        <a:bodyPr/>
        <a:lstStyle/>
        <a:p>
          <a:r>
            <a:rPr lang="en-US" b="1"/>
            <a:t>Reduced financial loss</a:t>
          </a:r>
          <a:r>
            <a:rPr lang="en-US"/>
            <a:t> by catching fraudulent events earlier</a:t>
          </a:r>
        </a:p>
      </dgm:t>
    </dgm:pt>
    <dgm:pt modelId="{463489A2-23F9-442D-828A-34608CCD30FA}" type="parTrans" cxnId="{216A54FA-B4DC-458A-A8B1-D835F815AA2D}">
      <dgm:prSet/>
      <dgm:spPr/>
      <dgm:t>
        <a:bodyPr/>
        <a:lstStyle/>
        <a:p>
          <a:endParaRPr lang="en-US"/>
        </a:p>
      </dgm:t>
    </dgm:pt>
    <dgm:pt modelId="{9D934C31-3721-49AE-BCF3-2C694DE85844}" type="sibTrans" cxnId="{216A54FA-B4DC-458A-A8B1-D835F815AA2D}">
      <dgm:prSet/>
      <dgm:spPr/>
      <dgm:t>
        <a:bodyPr/>
        <a:lstStyle/>
        <a:p>
          <a:endParaRPr lang="en-US"/>
        </a:p>
      </dgm:t>
    </dgm:pt>
    <dgm:pt modelId="{C77D08C4-D4D8-480D-8BBB-0242D872C506}">
      <dgm:prSet/>
      <dgm:spPr/>
      <dgm:t>
        <a:bodyPr/>
        <a:lstStyle/>
        <a:p>
          <a:r>
            <a:rPr lang="en-US" b="1"/>
            <a:t>Lower operational burden</a:t>
          </a:r>
          <a:r>
            <a:rPr lang="en-US"/>
            <a:t> through smarter, more targeted alerts</a:t>
          </a:r>
        </a:p>
      </dgm:t>
    </dgm:pt>
    <dgm:pt modelId="{A1DF01C6-610B-4695-98E9-C226D850FF9A}" type="parTrans" cxnId="{3DEE7151-5EE7-4724-9A8A-BDBC12453FF1}">
      <dgm:prSet/>
      <dgm:spPr/>
      <dgm:t>
        <a:bodyPr/>
        <a:lstStyle/>
        <a:p>
          <a:endParaRPr lang="en-US"/>
        </a:p>
      </dgm:t>
    </dgm:pt>
    <dgm:pt modelId="{C76C0DF7-C22F-43E6-8335-5E95EC91BA93}" type="sibTrans" cxnId="{3DEE7151-5EE7-4724-9A8A-BDBC12453FF1}">
      <dgm:prSet/>
      <dgm:spPr/>
      <dgm:t>
        <a:bodyPr/>
        <a:lstStyle/>
        <a:p>
          <a:endParaRPr lang="en-US"/>
        </a:p>
      </dgm:t>
    </dgm:pt>
    <dgm:pt modelId="{F7C8D34D-BA0E-4177-85C1-0536A88DD9DF}">
      <dgm:prSet/>
      <dgm:spPr/>
      <dgm:t>
        <a:bodyPr/>
        <a:lstStyle/>
        <a:p>
          <a:r>
            <a:rPr lang="en-US" b="1" dirty="0"/>
            <a:t>Improved customer trust</a:t>
          </a:r>
          <a:r>
            <a:rPr lang="en-US" dirty="0"/>
            <a:t>, as false positives are minimized using refined thresholding and risk scoring</a:t>
          </a:r>
        </a:p>
      </dgm:t>
    </dgm:pt>
    <dgm:pt modelId="{8B98FD89-AFD5-4490-811C-22019EA0F7A8}" type="parTrans" cxnId="{BCF909AE-4E2F-4BCB-B3B4-9731EDE0E0E1}">
      <dgm:prSet/>
      <dgm:spPr/>
      <dgm:t>
        <a:bodyPr/>
        <a:lstStyle/>
        <a:p>
          <a:endParaRPr lang="en-US"/>
        </a:p>
      </dgm:t>
    </dgm:pt>
    <dgm:pt modelId="{945FB2D9-0D3D-43C4-A34C-BCB64204DB95}" type="sibTrans" cxnId="{BCF909AE-4E2F-4BCB-B3B4-9731EDE0E0E1}">
      <dgm:prSet/>
      <dgm:spPr/>
      <dgm:t>
        <a:bodyPr/>
        <a:lstStyle/>
        <a:p>
          <a:endParaRPr lang="en-US"/>
        </a:p>
      </dgm:t>
    </dgm:pt>
    <dgm:pt modelId="{F8D7A680-A01E-4143-96AF-8662DCAAD6E7}" type="pres">
      <dgm:prSet presAssocID="{40FE03BC-04E8-40D2-9932-415CF33F95CC}" presName="vert0" presStyleCnt="0">
        <dgm:presLayoutVars>
          <dgm:dir/>
          <dgm:animOne val="branch"/>
          <dgm:animLvl val="lvl"/>
        </dgm:presLayoutVars>
      </dgm:prSet>
      <dgm:spPr/>
    </dgm:pt>
    <dgm:pt modelId="{7F048D9A-F3C2-441B-BD2E-F0131A872E07}" type="pres">
      <dgm:prSet presAssocID="{1C6516E1-0053-494F-A155-A6E91E8D365A}" presName="thickLine" presStyleLbl="alignNode1" presStyleIdx="0" presStyleCnt="16"/>
      <dgm:spPr/>
    </dgm:pt>
    <dgm:pt modelId="{BF3FFF04-9391-4A30-A3CA-200663648C1B}" type="pres">
      <dgm:prSet presAssocID="{1C6516E1-0053-494F-A155-A6E91E8D365A}" presName="horz1" presStyleCnt="0"/>
      <dgm:spPr/>
    </dgm:pt>
    <dgm:pt modelId="{16418D8B-EEE4-4647-80D1-4AADB579472D}" type="pres">
      <dgm:prSet presAssocID="{1C6516E1-0053-494F-A155-A6E91E8D365A}" presName="tx1" presStyleLbl="revTx" presStyleIdx="0" presStyleCnt="16"/>
      <dgm:spPr/>
    </dgm:pt>
    <dgm:pt modelId="{96FFB676-E628-499F-B524-9504E81507CF}" type="pres">
      <dgm:prSet presAssocID="{1C6516E1-0053-494F-A155-A6E91E8D365A}" presName="vert1" presStyleCnt="0"/>
      <dgm:spPr/>
    </dgm:pt>
    <dgm:pt modelId="{675FC15A-E6B7-4C49-A998-EC6EEC2ED6E3}" type="pres">
      <dgm:prSet presAssocID="{9DE3A88C-76A1-4F35-B015-5B56A2F87F0E}" presName="thickLine" presStyleLbl="alignNode1" presStyleIdx="1" presStyleCnt="16" custLinFactY="-100000" custLinFactNeighborX="748" custLinFactNeighborY="-164255"/>
      <dgm:spPr/>
    </dgm:pt>
    <dgm:pt modelId="{00CA0792-CF35-45F2-B34F-32393A98A453}" type="pres">
      <dgm:prSet presAssocID="{9DE3A88C-76A1-4F35-B015-5B56A2F87F0E}" presName="horz1" presStyleCnt="0"/>
      <dgm:spPr/>
    </dgm:pt>
    <dgm:pt modelId="{29634C54-5CD8-4C6D-9522-76E5E0D79D48}" type="pres">
      <dgm:prSet presAssocID="{9DE3A88C-76A1-4F35-B015-5B56A2F87F0E}" presName="tx1" presStyleLbl="revTx" presStyleIdx="1" presStyleCnt="16"/>
      <dgm:spPr/>
    </dgm:pt>
    <dgm:pt modelId="{9255DD22-2BF0-4A3D-AFA2-C6E765DA792E}" type="pres">
      <dgm:prSet presAssocID="{9DE3A88C-76A1-4F35-B015-5B56A2F87F0E}" presName="vert1" presStyleCnt="0"/>
      <dgm:spPr/>
    </dgm:pt>
    <dgm:pt modelId="{2AF00040-9C4D-4C88-A01F-3F8EE4F55D4A}" type="pres">
      <dgm:prSet presAssocID="{A6E34B0A-75CB-4B52-997C-8C98C2512966}" presName="thickLine" presStyleLbl="alignNode1" presStyleIdx="2" presStyleCnt="16" custLinFactY="-100000" custLinFactNeighborX="983" custLinFactNeighborY="-103639"/>
      <dgm:spPr/>
    </dgm:pt>
    <dgm:pt modelId="{90F0CA51-F8F3-4AC7-81C4-3C7B5F25EC78}" type="pres">
      <dgm:prSet presAssocID="{A6E34B0A-75CB-4B52-997C-8C98C2512966}" presName="horz1" presStyleCnt="0"/>
      <dgm:spPr/>
    </dgm:pt>
    <dgm:pt modelId="{65E598D1-2257-47BE-AE37-6BFB2D3D0A92}" type="pres">
      <dgm:prSet presAssocID="{A6E34B0A-75CB-4B52-997C-8C98C2512966}" presName="tx1" presStyleLbl="revTx" presStyleIdx="2" presStyleCnt="16"/>
      <dgm:spPr/>
    </dgm:pt>
    <dgm:pt modelId="{84C51A2E-71A2-4A3F-A9A9-3D68C56F5EA7}" type="pres">
      <dgm:prSet presAssocID="{A6E34B0A-75CB-4B52-997C-8C98C2512966}" presName="vert1" presStyleCnt="0"/>
      <dgm:spPr/>
    </dgm:pt>
    <dgm:pt modelId="{9744F549-9439-44B5-9DBD-3FF84DA925E2}" type="pres">
      <dgm:prSet presAssocID="{C7329341-CC3B-4C26-AC78-D81E781E09DE}" presName="thickLine" presStyleLbl="alignNode1" presStyleIdx="3" presStyleCnt="16"/>
      <dgm:spPr/>
    </dgm:pt>
    <dgm:pt modelId="{BABD9513-5489-4344-AAC9-312FF6581BB1}" type="pres">
      <dgm:prSet presAssocID="{C7329341-CC3B-4C26-AC78-D81E781E09DE}" presName="horz1" presStyleCnt="0"/>
      <dgm:spPr/>
    </dgm:pt>
    <dgm:pt modelId="{833C3790-322E-4103-877C-47038932575E}" type="pres">
      <dgm:prSet presAssocID="{C7329341-CC3B-4C26-AC78-D81E781E09DE}" presName="tx1" presStyleLbl="revTx" presStyleIdx="3" presStyleCnt="16"/>
      <dgm:spPr/>
    </dgm:pt>
    <dgm:pt modelId="{55C4BE0B-39CA-4F2C-B9F5-092AD0D6708B}" type="pres">
      <dgm:prSet presAssocID="{C7329341-CC3B-4C26-AC78-D81E781E09DE}" presName="vert1" presStyleCnt="0"/>
      <dgm:spPr/>
    </dgm:pt>
    <dgm:pt modelId="{61E3298B-D578-4DDB-8D1F-1314456DB638}" type="pres">
      <dgm:prSet presAssocID="{77351E92-B04C-4B61-8693-69BF977E64A6}" presName="thickLine" presStyleLbl="alignNode1" presStyleIdx="4" presStyleCnt="16"/>
      <dgm:spPr/>
    </dgm:pt>
    <dgm:pt modelId="{3EAB5DBA-3DDF-406D-9435-D5AA4166FD76}" type="pres">
      <dgm:prSet presAssocID="{77351E92-B04C-4B61-8693-69BF977E64A6}" presName="horz1" presStyleCnt="0"/>
      <dgm:spPr/>
    </dgm:pt>
    <dgm:pt modelId="{9415BB29-4A8E-4E61-9DD2-0218E66F2E45}" type="pres">
      <dgm:prSet presAssocID="{77351E92-B04C-4B61-8693-69BF977E64A6}" presName="tx1" presStyleLbl="revTx" presStyleIdx="4" presStyleCnt="16"/>
      <dgm:spPr/>
    </dgm:pt>
    <dgm:pt modelId="{8577A9FA-6BB9-4E6A-9C2E-F2B27D1BBF26}" type="pres">
      <dgm:prSet presAssocID="{77351E92-B04C-4B61-8693-69BF977E64A6}" presName="vert1" presStyleCnt="0"/>
      <dgm:spPr/>
    </dgm:pt>
    <dgm:pt modelId="{994AE3E1-3D5A-4D4B-9537-563922F39674}" type="pres">
      <dgm:prSet presAssocID="{77CC24E3-854B-4CBE-9722-697C421B1C41}" presName="thickLine" presStyleLbl="alignNode1" presStyleIdx="5" presStyleCnt="16" custLinFactY="-14814" custLinFactNeighborX="0" custLinFactNeighborY="-100000"/>
      <dgm:spPr/>
    </dgm:pt>
    <dgm:pt modelId="{E2E15873-700B-4738-8D55-74A380B46949}" type="pres">
      <dgm:prSet presAssocID="{77CC24E3-854B-4CBE-9722-697C421B1C41}" presName="horz1" presStyleCnt="0"/>
      <dgm:spPr/>
    </dgm:pt>
    <dgm:pt modelId="{67B11267-0C14-4F91-8E48-82FBB4D196BC}" type="pres">
      <dgm:prSet presAssocID="{77CC24E3-854B-4CBE-9722-697C421B1C41}" presName="tx1" presStyleLbl="revTx" presStyleIdx="5" presStyleCnt="16"/>
      <dgm:spPr/>
    </dgm:pt>
    <dgm:pt modelId="{395FBF6B-1DD1-41D7-A90B-33BA2822B058}" type="pres">
      <dgm:prSet presAssocID="{77CC24E3-854B-4CBE-9722-697C421B1C41}" presName="vert1" presStyleCnt="0"/>
      <dgm:spPr/>
    </dgm:pt>
    <dgm:pt modelId="{BC29A035-13ED-4C1C-A9F6-AE25A2F9B04A}" type="pres">
      <dgm:prSet presAssocID="{5ED60069-AB05-48B4-9DA9-74DC8C05BC3C}" presName="thickLine" presStyleLbl="alignNode1" presStyleIdx="6" presStyleCnt="16"/>
      <dgm:spPr/>
    </dgm:pt>
    <dgm:pt modelId="{8F28B19B-9C93-4864-9DF2-B80FEAC1CA62}" type="pres">
      <dgm:prSet presAssocID="{5ED60069-AB05-48B4-9DA9-74DC8C05BC3C}" presName="horz1" presStyleCnt="0"/>
      <dgm:spPr/>
    </dgm:pt>
    <dgm:pt modelId="{35AECED3-C353-4FD7-9603-8F106EEE2EAA}" type="pres">
      <dgm:prSet presAssocID="{5ED60069-AB05-48B4-9DA9-74DC8C05BC3C}" presName="tx1" presStyleLbl="revTx" presStyleIdx="6" presStyleCnt="16"/>
      <dgm:spPr/>
    </dgm:pt>
    <dgm:pt modelId="{B8805963-44F6-4330-BE76-1C775E3DB8B0}" type="pres">
      <dgm:prSet presAssocID="{5ED60069-AB05-48B4-9DA9-74DC8C05BC3C}" presName="vert1" presStyleCnt="0"/>
      <dgm:spPr/>
    </dgm:pt>
    <dgm:pt modelId="{D7445457-BB77-4790-A7CD-3A612FA1B915}" type="pres">
      <dgm:prSet presAssocID="{B2DD091C-627E-48B5-95AE-B8A8E21D38A5}" presName="thickLine" presStyleLbl="alignNode1" presStyleIdx="7" presStyleCnt="16"/>
      <dgm:spPr/>
    </dgm:pt>
    <dgm:pt modelId="{DDBF28E4-C76F-4D2B-BC5D-3D3521A04670}" type="pres">
      <dgm:prSet presAssocID="{B2DD091C-627E-48B5-95AE-B8A8E21D38A5}" presName="horz1" presStyleCnt="0"/>
      <dgm:spPr/>
    </dgm:pt>
    <dgm:pt modelId="{C13F1F24-FBFB-476D-B20D-C99FA94F2D6D}" type="pres">
      <dgm:prSet presAssocID="{B2DD091C-627E-48B5-95AE-B8A8E21D38A5}" presName="tx1" presStyleLbl="revTx" presStyleIdx="7" presStyleCnt="16"/>
      <dgm:spPr/>
    </dgm:pt>
    <dgm:pt modelId="{00340B13-3C2D-4045-98A3-6238C81C1D9C}" type="pres">
      <dgm:prSet presAssocID="{B2DD091C-627E-48B5-95AE-B8A8E21D38A5}" presName="vert1" presStyleCnt="0"/>
      <dgm:spPr/>
    </dgm:pt>
    <dgm:pt modelId="{B1918565-7CB4-457A-B865-C8D2586C9467}" type="pres">
      <dgm:prSet presAssocID="{5D7C4919-2DFF-4451-AE0E-1E83FECBE9D3}" presName="thickLine" presStyleLbl="alignNode1" presStyleIdx="8" presStyleCnt="16"/>
      <dgm:spPr/>
    </dgm:pt>
    <dgm:pt modelId="{91D7DF0D-7C35-440B-9F69-4124523341E8}" type="pres">
      <dgm:prSet presAssocID="{5D7C4919-2DFF-4451-AE0E-1E83FECBE9D3}" presName="horz1" presStyleCnt="0"/>
      <dgm:spPr/>
    </dgm:pt>
    <dgm:pt modelId="{CE914FA7-B025-43B8-AE11-EC5A294662F9}" type="pres">
      <dgm:prSet presAssocID="{5D7C4919-2DFF-4451-AE0E-1E83FECBE9D3}" presName="tx1" presStyleLbl="revTx" presStyleIdx="8" presStyleCnt="16"/>
      <dgm:spPr/>
    </dgm:pt>
    <dgm:pt modelId="{7677357F-DA8C-4E63-9CFD-0BA7DC7BDFE9}" type="pres">
      <dgm:prSet presAssocID="{5D7C4919-2DFF-4451-AE0E-1E83FECBE9D3}" presName="vert1" presStyleCnt="0"/>
      <dgm:spPr/>
    </dgm:pt>
    <dgm:pt modelId="{B2152019-A4A9-4140-A9F8-23EB4C40FADC}" type="pres">
      <dgm:prSet presAssocID="{E7B0E009-3622-4FCE-B6B7-4DED71835160}" presName="thickLine" presStyleLbl="alignNode1" presStyleIdx="9" presStyleCnt="16"/>
      <dgm:spPr/>
    </dgm:pt>
    <dgm:pt modelId="{B085C6EE-A633-47B1-9CBF-E52FA0CA37D2}" type="pres">
      <dgm:prSet presAssocID="{E7B0E009-3622-4FCE-B6B7-4DED71835160}" presName="horz1" presStyleCnt="0"/>
      <dgm:spPr/>
    </dgm:pt>
    <dgm:pt modelId="{DB05A098-A353-43F9-B642-9B103C9114C4}" type="pres">
      <dgm:prSet presAssocID="{E7B0E009-3622-4FCE-B6B7-4DED71835160}" presName="tx1" presStyleLbl="revTx" presStyleIdx="9" presStyleCnt="16"/>
      <dgm:spPr/>
    </dgm:pt>
    <dgm:pt modelId="{2720FBC2-1691-49D0-BBFC-020466B75BD6}" type="pres">
      <dgm:prSet presAssocID="{E7B0E009-3622-4FCE-B6B7-4DED71835160}" presName="vert1" presStyleCnt="0"/>
      <dgm:spPr/>
    </dgm:pt>
    <dgm:pt modelId="{919F2D15-CB4D-4AED-958C-72E47688AD9D}" type="pres">
      <dgm:prSet presAssocID="{77DE1D25-3547-4F97-8398-64165104C0B0}" presName="thickLine" presStyleLbl="alignNode1" presStyleIdx="10" presStyleCnt="16"/>
      <dgm:spPr/>
    </dgm:pt>
    <dgm:pt modelId="{3E5FC1D4-40F0-4D1D-A948-AD7147976035}" type="pres">
      <dgm:prSet presAssocID="{77DE1D25-3547-4F97-8398-64165104C0B0}" presName="horz1" presStyleCnt="0"/>
      <dgm:spPr/>
    </dgm:pt>
    <dgm:pt modelId="{AC6B8D2D-D4E3-4B42-9008-A83BD708149C}" type="pres">
      <dgm:prSet presAssocID="{77DE1D25-3547-4F97-8398-64165104C0B0}" presName="tx1" presStyleLbl="revTx" presStyleIdx="10" presStyleCnt="16"/>
      <dgm:spPr/>
    </dgm:pt>
    <dgm:pt modelId="{7AB5B9FD-15DD-4255-89C8-FA9B9D685300}" type="pres">
      <dgm:prSet presAssocID="{77DE1D25-3547-4F97-8398-64165104C0B0}" presName="vert1" presStyleCnt="0"/>
      <dgm:spPr/>
    </dgm:pt>
    <dgm:pt modelId="{B4B6D82E-A601-422E-9327-51BFBB57C56A}" type="pres">
      <dgm:prSet presAssocID="{6D21CFDF-C77E-451C-87A9-A800A6637161}" presName="thickLine" presStyleLbl="alignNode1" presStyleIdx="11" presStyleCnt="16"/>
      <dgm:spPr/>
    </dgm:pt>
    <dgm:pt modelId="{CB2706C2-7589-4C2D-B71B-8996FE34E7B6}" type="pres">
      <dgm:prSet presAssocID="{6D21CFDF-C77E-451C-87A9-A800A6637161}" presName="horz1" presStyleCnt="0"/>
      <dgm:spPr/>
    </dgm:pt>
    <dgm:pt modelId="{3C2D5F20-8FD2-4D6E-8A95-8E979231F123}" type="pres">
      <dgm:prSet presAssocID="{6D21CFDF-C77E-451C-87A9-A800A6637161}" presName="tx1" presStyleLbl="revTx" presStyleIdx="11" presStyleCnt="16"/>
      <dgm:spPr/>
    </dgm:pt>
    <dgm:pt modelId="{98709558-B0E3-4F5A-A570-E586A8223074}" type="pres">
      <dgm:prSet presAssocID="{6D21CFDF-C77E-451C-87A9-A800A6637161}" presName="vert1" presStyleCnt="0"/>
      <dgm:spPr/>
    </dgm:pt>
    <dgm:pt modelId="{DF75FC30-FE12-4918-9974-7041F77E2674}" type="pres">
      <dgm:prSet presAssocID="{5A43E5E1-F3AD-4693-B752-F0B3115BB7F0}" presName="thickLine" presStyleLbl="alignNode1" presStyleIdx="12" presStyleCnt="16"/>
      <dgm:spPr/>
    </dgm:pt>
    <dgm:pt modelId="{BA028663-750F-499F-BFF9-E5BEF0FB2F54}" type="pres">
      <dgm:prSet presAssocID="{5A43E5E1-F3AD-4693-B752-F0B3115BB7F0}" presName="horz1" presStyleCnt="0"/>
      <dgm:spPr/>
    </dgm:pt>
    <dgm:pt modelId="{108CFF4F-A9CA-4D70-BE4F-4445295EE5E9}" type="pres">
      <dgm:prSet presAssocID="{5A43E5E1-F3AD-4693-B752-F0B3115BB7F0}" presName="tx1" presStyleLbl="revTx" presStyleIdx="12" presStyleCnt="16"/>
      <dgm:spPr/>
    </dgm:pt>
    <dgm:pt modelId="{549A6D20-ACD3-45BE-91DA-44BB7F355DB9}" type="pres">
      <dgm:prSet presAssocID="{5A43E5E1-F3AD-4693-B752-F0B3115BB7F0}" presName="vert1" presStyleCnt="0"/>
      <dgm:spPr/>
    </dgm:pt>
    <dgm:pt modelId="{A8A01FC9-140A-42EC-8389-96263C5C708C}" type="pres">
      <dgm:prSet presAssocID="{2982EFD6-4751-4DD7-9D53-245302C2D784}" presName="thickLine" presStyleLbl="alignNode1" presStyleIdx="13" presStyleCnt="16"/>
      <dgm:spPr/>
    </dgm:pt>
    <dgm:pt modelId="{4767BD76-E334-4C81-B45B-653F76470852}" type="pres">
      <dgm:prSet presAssocID="{2982EFD6-4751-4DD7-9D53-245302C2D784}" presName="horz1" presStyleCnt="0"/>
      <dgm:spPr/>
    </dgm:pt>
    <dgm:pt modelId="{4AA1E39D-755B-43BE-844A-6DFD96DB8FD2}" type="pres">
      <dgm:prSet presAssocID="{2982EFD6-4751-4DD7-9D53-245302C2D784}" presName="tx1" presStyleLbl="revTx" presStyleIdx="13" presStyleCnt="16"/>
      <dgm:spPr/>
    </dgm:pt>
    <dgm:pt modelId="{86247800-C0BE-4650-902D-BF6AF75EF3CD}" type="pres">
      <dgm:prSet presAssocID="{2982EFD6-4751-4DD7-9D53-245302C2D784}" presName="vert1" presStyleCnt="0"/>
      <dgm:spPr/>
    </dgm:pt>
    <dgm:pt modelId="{8FE12465-86B6-41E4-93EC-98A6FA4D9AEB}" type="pres">
      <dgm:prSet presAssocID="{C77D08C4-D4D8-480D-8BBB-0242D872C506}" presName="thickLine" presStyleLbl="alignNode1" presStyleIdx="14" presStyleCnt="16"/>
      <dgm:spPr/>
    </dgm:pt>
    <dgm:pt modelId="{44DD6A1D-CE8B-423C-8F0E-3AD54E94F288}" type="pres">
      <dgm:prSet presAssocID="{C77D08C4-D4D8-480D-8BBB-0242D872C506}" presName="horz1" presStyleCnt="0"/>
      <dgm:spPr/>
    </dgm:pt>
    <dgm:pt modelId="{84B0CA76-E39C-49FA-A8AC-087CB217AFD3}" type="pres">
      <dgm:prSet presAssocID="{C77D08C4-D4D8-480D-8BBB-0242D872C506}" presName="tx1" presStyleLbl="revTx" presStyleIdx="14" presStyleCnt="16"/>
      <dgm:spPr/>
    </dgm:pt>
    <dgm:pt modelId="{48D5A3E2-AD5A-41BE-A1B3-04CC10B22CD8}" type="pres">
      <dgm:prSet presAssocID="{C77D08C4-D4D8-480D-8BBB-0242D872C506}" presName="vert1" presStyleCnt="0"/>
      <dgm:spPr/>
    </dgm:pt>
    <dgm:pt modelId="{8D11E3F0-D8A2-4B63-BF21-B713961B3DE4}" type="pres">
      <dgm:prSet presAssocID="{F7C8D34D-BA0E-4177-85C1-0536A88DD9DF}" presName="thickLine" presStyleLbl="alignNode1" presStyleIdx="15" presStyleCnt="16"/>
      <dgm:spPr/>
    </dgm:pt>
    <dgm:pt modelId="{9A75C905-CE4E-4382-B30B-A4CB0365F8A4}" type="pres">
      <dgm:prSet presAssocID="{F7C8D34D-BA0E-4177-85C1-0536A88DD9DF}" presName="horz1" presStyleCnt="0"/>
      <dgm:spPr/>
    </dgm:pt>
    <dgm:pt modelId="{432917FC-C197-446F-84B4-1BC69C116864}" type="pres">
      <dgm:prSet presAssocID="{F7C8D34D-BA0E-4177-85C1-0536A88DD9DF}" presName="tx1" presStyleLbl="revTx" presStyleIdx="15" presStyleCnt="16"/>
      <dgm:spPr/>
    </dgm:pt>
    <dgm:pt modelId="{5829D844-1CF1-4DB4-8F3E-A3FD1E42FE1A}" type="pres">
      <dgm:prSet presAssocID="{F7C8D34D-BA0E-4177-85C1-0536A88DD9DF}" presName="vert1" presStyleCnt="0"/>
      <dgm:spPr/>
    </dgm:pt>
  </dgm:ptLst>
  <dgm:cxnLst>
    <dgm:cxn modelId="{086E6E17-A9BB-4F34-AFBF-7289E2E6974B}" srcId="{40FE03BC-04E8-40D2-9932-415CF33F95CC}" destId="{77DE1D25-3547-4F97-8398-64165104C0B0}" srcOrd="10" destOrd="0" parTransId="{12476334-9286-4979-8455-A80414404AE4}" sibTransId="{2BB94ABA-1181-4145-B1FB-999ADD92F4A6}"/>
    <dgm:cxn modelId="{C3634321-DB7D-45CD-85B4-07D4E7FA9575}" srcId="{40FE03BC-04E8-40D2-9932-415CF33F95CC}" destId="{5A43E5E1-F3AD-4693-B752-F0B3115BB7F0}" srcOrd="12" destOrd="0" parTransId="{128CF3E8-4B4A-415D-ACE1-EBBDF598474B}" sibTransId="{0D82411E-C162-4EF7-A79F-10BC175E1B11}"/>
    <dgm:cxn modelId="{4D2A6525-3305-41A1-B51E-678FD781B959}" type="presOf" srcId="{F7C8D34D-BA0E-4177-85C1-0536A88DD9DF}" destId="{432917FC-C197-446F-84B4-1BC69C116864}" srcOrd="0" destOrd="0" presId="urn:microsoft.com/office/officeart/2008/layout/LinedList"/>
    <dgm:cxn modelId="{5D30FA26-77FA-46CC-B920-5A179C3D2638}" type="presOf" srcId="{5D7C4919-2DFF-4451-AE0E-1E83FECBE9D3}" destId="{CE914FA7-B025-43B8-AE11-EC5A294662F9}" srcOrd="0" destOrd="0" presId="urn:microsoft.com/office/officeart/2008/layout/LinedList"/>
    <dgm:cxn modelId="{0381272F-DDEA-4B05-8212-E127893C7494}" type="presOf" srcId="{B2DD091C-627E-48B5-95AE-B8A8E21D38A5}" destId="{C13F1F24-FBFB-476D-B20D-C99FA94F2D6D}" srcOrd="0" destOrd="0" presId="urn:microsoft.com/office/officeart/2008/layout/LinedList"/>
    <dgm:cxn modelId="{431F7834-1FA0-4258-93B5-E4A01A0DBF59}" type="presOf" srcId="{2982EFD6-4751-4DD7-9D53-245302C2D784}" destId="{4AA1E39D-755B-43BE-844A-6DFD96DB8FD2}" srcOrd="0" destOrd="0" presId="urn:microsoft.com/office/officeart/2008/layout/LinedList"/>
    <dgm:cxn modelId="{3DEE7151-5EE7-4724-9A8A-BDBC12453FF1}" srcId="{40FE03BC-04E8-40D2-9932-415CF33F95CC}" destId="{C77D08C4-D4D8-480D-8BBB-0242D872C506}" srcOrd="14" destOrd="0" parTransId="{A1DF01C6-610B-4695-98E9-C226D850FF9A}" sibTransId="{C76C0DF7-C22F-43E6-8335-5E95EC91BA93}"/>
    <dgm:cxn modelId="{4E5CB562-353D-4A56-A8F0-067DC726C0C7}" type="presOf" srcId="{77CC24E3-854B-4CBE-9722-697C421B1C41}" destId="{67B11267-0C14-4F91-8E48-82FBB4D196BC}" srcOrd="0" destOrd="0" presId="urn:microsoft.com/office/officeart/2008/layout/LinedList"/>
    <dgm:cxn modelId="{42767766-3666-4E04-A455-021D28DE148C}" srcId="{40FE03BC-04E8-40D2-9932-415CF33F95CC}" destId="{1C6516E1-0053-494F-A155-A6E91E8D365A}" srcOrd="0" destOrd="0" parTransId="{12EC4A17-E292-4914-8C6B-D1591E74B216}" sibTransId="{9701A1AF-DA2B-4166-B82D-383B18372547}"/>
    <dgm:cxn modelId="{D74AD571-25C4-4ABA-8048-1DBE2A5D94F7}" type="presOf" srcId="{6D21CFDF-C77E-451C-87A9-A800A6637161}" destId="{3C2D5F20-8FD2-4D6E-8A95-8E979231F123}" srcOrd="0" destOrd="0" presId="urn:microsoft.com/office/officeart/2008/layout/LinedList"/>
    <dgm:cxn modelId="{10FFFF78-08A6-4827-A75C-D6C9D3692AC1}" type="presOf" srcId="{5A43E5E1-F3AD-4693-B752-F0B3115BB7F0}" destId="{108CFF4F-A9CA-4D70-BE4F-4445295EE5E9}" srcOrd="0" destOrd="0" presId="urn:microsoft.com/office/officeart/2008/layout/LinedList"/>
    <dgm:cxn modelId="{C4DFF97A-1243-464C-93E2-B28E93BB893B}" srcId="{40FE03BC-04E8-40D2-9932-415CF33F95CC}" destId="{6D21CFDF-C77E-451C-87A9-A800A6637161}" srcOrd="11" destOrd="0" parTransId="{E8D3EEDA-7D69-406F-8BC6-18F8702EC9E0}" sibTransId="{479260A7-5AA4-46F6-A224-028A631C70C6}"/>
    <dgm:cxn modelId="{EB9E497C-F645-465D-BBEF-DD4AF3557F7A}" type="presOf" srcId="{1C6516E1-0053-494F-A155-A6E91E8D365A}" destId="{16418D8B-EEE4-4647-80D1-4AADB579472D}" srcOrd="0" destOrd="0" presId="urn:microsoft.com/office/officeart/2008/layout/LinedList"/>
    <dgm:cxn modelId="{ECB9307D-7067-4537-AAB9-67910CC895D2}" srcId="{40FE03BC-04E8-40D2-9932-415CF33F95CC}" destId="{77351E92-B04C-4B61-8693-69BF977E64A6}" srcOrd="4" destOrd="0" parTransId="{AA113121-677E-49BC-AFD8-BB8122578E63}" sibTransId="{585FECC7-E39E-4DA5-AC34-458970A4CFD9}"/>
    <dgm:cxn modelId="{2CB42480-2331-4100-BBA5-A86F3346391C}" type="presOf" srcId="{E7B0E009-3622-4FCE-B6B7-4DED71835160}" destId="{DB05A098-A353-43F9-B642-9B103C9114C4}" srcOrd="0" destOrd="0" presId="urn:microsoft.com/office/officeart/2008/layout/LinedList"/>
    <dgm:cxn modelId="{2F7DB385-0D1C-49C7-8DB1-D57526CBC3F1}" type="presOf" srcId="{C7329341-CC3B-4C26-AC78-D81E781E09DE}" destId="{833C3790-322E-4103-877C-47038932575E}" srcOrd="0" destOrd="0" presId="urn:microsoft.com/office/officeart/2008/layout/LinedList"/>
    <dgm:cxn modelId="{54D1AA86-FB56-43B7-9714-7600B00EC508}" type="presOf" srcId="{9DE3A88C-76A1-4F35-B015-5B56A2F87F0E}" destId="{29634C54-5CD8-4C6D-9522-76E5E0D79D48}" srcOrd="0" destOrd="0" presId="urn:microsoft.com/office/officeart/2008/layout/LinedList"/>
    <dgm:cxn modelId="{046C168C-F390-4A74-BBFB-7DC861C5757F}" srcId="{40FE03BC-04E8-40D2-9932-415CF33F95CC}" destId="{A6E34B0A-75CB-4B52-997C-8C98C2512966}" srcOrd="2" destOrd="0" parTransId="{C62BCFE7-6319-4C0B-883E-B2AC9CD5CB8B}" sibTransId="{15FAD246-497B-434E-A322-C29FEC16F387}"/>
    <dgm:cxn modelId="{B1FCBD9E-4433-4521-AEE2-3F41F61F2775}" srcId="{40FE03BC-04E8-40D2-9932-415CF33F95CC}" destId="{C7329341-CC3B-4C26-AC78-D81E781E09DE}" srcOrd="3" destOrd="0" parTransId="{A5C1DA9F-A210-4E87-A56F-2D4A20CE7794}" sibTransId="{8AFCFF38-394E-4F3C-9690-2709A386968F}"/>
    <dgm:cxn modelId="{D32163A9-3A35-4187-8280-CE9F54D4D37B}" srcId="{40FE03BC-04E8-40D2-9932-415CF33F95CC}" destId="{B2DD091C-627E-48B5-95AE-B8A8E21D38A5}" srcOrd="7" destOrd="0" parTransId="{E974F5E5-7793-4A21-BF7D-52FF91CB81C6}" sibTransId="{762645DF-8CD0-4B38-AA38-C3F4D2C2275A}"/>
    <dgm:cxn modelId="{BCF909AE-4E2F-4BCB-B3B4-9731EDE0E0E1}" srcId="{40FE03BC-04E8-40D2-9932-415CF33F95CC}" destId="{F7C8D34D-BA0E-4177-85C1-0536A88DD9DF}" srcOrd="15" destOrd="0" parTransId="{8B98FD89-AFD5-4490-811C-22019EA0F7A8}" sibTransId="{945FB2D9-0D3D-43C4-A34C-BCB64204DB95}"/>
    <dgm:cxn modelId="{63A9BEB2-414E-4EF9-8707-F72379B5212B}" srcId="{40FE03BC-04E8-40D2-9932-415CF33F95CC}" destId="{5D7C4919-2DFF-4451-AE0E-1E83FECBE9D3}" srcOrd="8" destOrd="0" parTransId="{065A2ADF-1D3A-48CC-9D27-6D3A580BBCDF}" sibTransId="{9ED919A5-54C2-4D86-BA3B-BE2668E925C5}"/>
    <dgm:cxn modelId="{A74C66B5-80C7-4BD9-9B52-172AE726A43A}" type="presOf" srcId="{77DE1D25-3547-4F97-8398-64165104C0B0}" destId="{AC6B8D2D-D4E3-4B42-9008-A83BD708149C}" srcOrd="0" destOrd="0" presId="urn:microsoft.com/office/officeart/2008/layout/LinedList"/>
    <dgm:cxn modelId="{2068AFBD-A4F9-4070-976D-1F65FCCA4A10}" type="presOf" srcId="{5ED60069-AB05-48B4-9DA9-74DC8C05BC3C}" destId="{35AECED3-C353-4FD7-9603-8F106EEE2EAA}" srcOrd="0" destOrd="0" presId="urn:microsoft.com/office/officeart/2008/layout/LinedList"/>
    <dgm:cxn modelId="{381969C7-234F-41A6-A7E8-71A8BC1E7D2B}" type="presOf" srcId="{40FE03BC-04E8-40D2-9932-415CF33F95CC}" destId="{F8D7A680-A01E-4143-96AF-8662DCAAD6E7}" srcOrd="0" destOrd="0" presId="urn:microsoft.com/office/officeart/2008/layout/LinedList"/>
    <dgm:cxn modelId="{9E6CBEC7-F8CC-4503-9842-09D5CDF707B2}" srcId="{40FE03BC-04E8-40D2-9932-415CF33F95CC}" destId="{E7B0E009-3622-4FCE-B6B7-4DED71835160}" srcOrd="9" destOrd="0" parTransId="{1B8F68B7-C5E1-43E6-9EEB-B2D61FF73F24}" sibTransId="{4929F403-7623-446B-B0B9-FA2C24BB7E6A}"/>
    <dgm:cxn modelId="{5E2FCFCD-236C-4CFE-A3B9-8CC868E8DD09}" type="presOf" srcId="{77351E92-B04C-4B61-8693-69BF977E64A6}" destId="{9415BB29-4A8E-4E61-9DD2-0218E66F2E45}" srcOrd="0" destOrd="0" presId="urn:microsoft.com/office/officeart/2008/layout/LinedList"/>
    <dgm:cxn modelId="{8DCE26E6-C74B-4214-8023-9A97CAD4A849}" srcId="{40FE03BC-04E8-40D2-9932-415CF33F95CC}" destId="{77CC24E3-854B-4CBE-9722-697C421B1C41}" srcOrd="5" destOrd="0" parTransId="{D29766E1-49AD-4432-B624-50C517DEC9A1}" sibTransId="{8858D745-6755-4BF3-B43E-1E69775A7B2F}"/>
    <dgm:cxn modelId="{534133F1-5F97-4F3F-B7DE-49C62C57EEBF}" type="presOf" srcId="{C77D08C4-D4D8-480D-8BBB-0242D872C506}" destId="{84B0CA76-E39C-49FA-A8AC-087CB217AFD3}" srcOrd="0" destOrd="0" presId="urn:microsoft.com/office/officeart/2008/layout/LinedList"/>
    <dgm:cxn modelId="{C10710F6-CEFC-4857-A6B7-ABBA2DFB3E70}" srcId="{40FE03BC-04E8-40D2-9932-415CF33F95CC}" destId="{9DE3A88C-76A1-4F35-B015-5B56A2F87F0E}" srcOrd="1" destOrd="0" parTransId="{E8954A93-5268-4CF2-B820-35725BE3E758}" sibTransId="{6B2CA832-CBD5-4699-890D-75A057F40D2D}"/>
    <dgm:cxn modelId="{216A54FA-B4DC-458A-A8B1-D835F815AA2D}" srcId="{40FE03BC-04E8-40D2-9932-415CF33F95CC}" destId="{2982EFD6-4751-4DD7-9D53-245302C2D784}" srcOrd="13" destOrd="0" parTransId="{463489A2-23F9-442D-828A-34608CCD30FA}" sibTransId="{9D934C31-3721-49AE-BCF3-2C694DE85844}"/>
    <dgm:cxn modelId="{7DCAF9FB-4A74-4663-BBC9-C7B2B0556160}" type="presOf" srcId="{A6E34B0A-75CB-4B52-997C-8C98C2512966}" destId="{65E598D1-2257-47BE-AE37-6BFB2D3D0A92}" srcOrd="0" destOrd="0" presId="urn:microsoft.com/office/officeart/2008/layout/LinedList"/>
    <dgm:cxn modelId="{4E53ADFE-FD79-4641-9ADF-BC0D397F4951}" srcId="{40FE03BC-04E8-40D2-9932-415CF33F95CC}" destId="{5ED60069-AB05-48B4-9DA9-74DC8C05BC3C}" srcOrd="6" destOrd="0" parTransId="{448BD930-1470-42F1-A3D5-C31463B79068}" sibTransId="{2C5D0368-DE45-44E6-A8AA-3F6B11FF8B61}"/>
    <dgm:cxn modelId="{5199128E-C3F6-4A90-8438-E6B7904184A2}" type="presParOf" srcId="{F8D7A680-A01E-4143-96AF-8662DCAAD6E7}" destId="{7F048D9A-F3C2-441B-BD2E-F0131A872E07}" srcOrd="0" destOrd="0" presId="urn:microsoft.com/office/officeart/2008/layout/LinedList"/>
    <dgm:cxn modelId="{A4CE079A-9A29-457A-ADA7-7793866E48BD}" type="presParOf" srcId="{F8D7A680-A01E-4143-96AF-8662DCAAD6E7}" destId="{BF3FFF04-9391-4A30-A3CA-200663648C1B}" srcOrd="1" destOrd="0" presId="urn:microsoft.com/office/officeart/2008/layout/LinedList"/>
    <dgm:cxn modelId="{929932FF-6DDD-4393-9B8E-9502237A8E84}" type="presParOf" srcId="{BF3FFF04-9391-4A30-A3CA-200663648C1B}" destId="{16418D8B-EEE4-4647-80D1-4AADB579472D}" srcOrd="0" destOrd="0" presId="urn:microsoft.com/office/officeart/2008/layout/LinedList"/>
    <dgm:cxn modelId="{55EDDB48-3111-4439-99DB-030C4E8FB678}" type="presParOf" srcId="{BF3FFF04-9391-4A30-A3CA-200663648C1B}" destId="{96FFB676-E628-499F-B524-9504E81507CF}" srcOrd="1" destOrd="0" presId="urn:microsoft.com/office/officeart/2008/layout/LinedList"/>
    <dgm:cxn modelId="{2EF771CF-981D-42E6-805D-72FAEA788B8B}" type="presParOf" srcId="{F8D7A680-A01E-4143-96AF-8662DCAAD6E7}" destId="{675FC15A-E6B7-4C49-A998-EC6EEC2ED6E3}" srcOrd="2" destOrd="0" presId="urn:microsoft.com/office/officeart/2008/layout/LinedList"/>
    <dgm:cxn modelId="{DD0F5115-B7EC-4EDB-A9F2-0B75008B489A}" type="presParOf" srcId="{F8D7A680-A01E-4143-96AF-8662DCAAD6E7}" destId="{00CA0792-CF35-45F2-B34F-32393A98A453}" srcOrd="3" destOrd="0" presId="urn:microsoft.com/office/officeart/2008/layout/LinedList"/>
    <dgm:cxn modelId="{40FA89D2-E8C2-4C88-A994-624E084C4B89}" type="presParOf" srcId="{00CA0792-CF35-45F2-B34F-32393A98A453}" destId="{29634C54-5CD8-4C6D-9522-76E5E0D79D48}" srcOrd="0" destOrd="0" presId="urn:microsoft.com/office/officeart/2008/layout/LinedList"/>
    <dgm:cxn modelId="{D969070B-262F-4416-892B-C11B2165429E}" type="presParOf" srcId="{00CA0792-CF35-45F2-B34F-32393A98A453}" destId="{9255DD22-2BF0-4A3D-AFA2-C6E765DA792E}" srcOrd="1" destOrd="0" presId="urn:microsoft.com/office/officeart/2008/layout/LinedList"/>
    <dgm:cxn modelId="{0FA4F34D-C298-4757-AE6E-EF3877D3757D}" type="presParOf" srcId="{F8D7A680-A01E-4143-96AF-8662DCAAD6E7}" destId="{2AF00040-9C4D-4C88-A01F-3F8EE4F55D4A}" srcOrd="4" destOrd="0" presId="urn:microsoft.com/office/officeart/2008/layout/LinedList"/>
    <dgm:cxn modelId="{B538D738-FE2F-4544-A28B-23D3D3A0DC7E}" type="presParOf" srcId="{F8D7A680-A01E-4143-96AF-8662DCAAD6E7}" destId="{90F0CA51-F8F3-4AC7-81C4-3C7B5F25EC78}" srcOrd="5" destOrd="0" presId="urn:microsoft.com/office/officeart/2008/layout/LinedList"/>
    <dgm:cxn modelId="{B55399BD-90B6-4E51-82E8-E0531026D4D5}" type="presParOf" srcId="{90F0CA51-F8F3-4AC7-81C4-3C7B5F25EC78}" destId="{65E598D1-2257-47BE-AE37-6BFB2D3D0A92}" srcOrd="0" destOrd="0" presId="urn:microsoft.com/office/officeart/2008/layout/LinedList"/>
    <dgm:cxn modelId="{8D8F693A-DD21-4A27-9225-BBEE381B5D6C}" type="presParOf" srcId="{90F0CA51-F8F3-4AC7-81C4-3C7B5F25EC78}" destId="{84C51A2E-71A2-4A3F-A9A9-3D68C56F5EA7}" srcOrd="1" destOrd="0" presId="urn:microsoft.com/office/officeart/2008/layout/LinedList"/>
    <dgm:cxn modelId="{367C1503-B3B7-4227-B7A0-A2A9E0D090AE}" type="presParOf" srcId="{F8D7A680-A01E-4143-96AF-8662DCAAD6E7}" destId="{9744F549-9439-44B5-9DBD-3FF84DA925E2}" srcOrd="6" destOrd="0" presId="urn:microsoft.com/office/officeart/2008/layout/LinedList"/>
    <dgm:cxn modelId="{637EFFF4-9B2C-4936-99D7-96FA55945975}" type="presParOf" srcId="{F8D7A680-A01E-4143-96AF-8662DCAAD6E7}" destId="{BABD9513-5489-4344-AAC9-312FF6581BB1}" srcOrd="7" destOrd="0" presId="urn:microsoft.com/office/officeart/2008/layout/LinedList"/>
    <dgm:cxn modelId="{264FA7A3-6D4D-47E2-9586-54C899CB0458}" type="presParOf" srcId="{BABD9513-5489-4344-AAC9-312FF6581BB1}" destId="{833C3790-322E-4103-877C-47038932575E}" srcOrd="0" destOrd="0" presId="urn:microsoft.com/office/officeart/2008/layout/LinedList"/>
    <dgm:cxn modelId="{F805CEAA-1AE1-49F7-884D-0D0857464859}" type="presParOf" srcId="{BABD9513-5489-4344-AAC9-312FF6581BB1}" destId="{55C4BE0B-39CA-4F2C-B9F5-092AD0D6708B}" srcOrd="1" destOrd="0" presId="urn:microsoft.com/office/officeart/2008/layout/LinedList"/>
    <dgm:cxn modelId="{137823E5-AF02-41F5-A9B3-5BCE0FD6B4BA}" type="presParOf" srcId="{F8D7A680-A01E-4143-96AF-8662DCAAD6E7}" destId="{61E3298B-D578-4DDB-8D1F-1314456DB638}" srcOrd="8" destOrd="0" presId="urn:microsoft.com/office/officeart/2008/layout/LinedList"/>
    <dgm:cxn modelId="{95F56A0C-CA79-4063-9FD7-07FBE618DCE2}" type="presParOf" srcId="{F8D7A680-A01E-4143-96AF-8662DCAAD6E7}" destId="{3EAB5DBA-3DDF-406D-9435-D5AA4166FD76}" srcOrd="9" destOrd="0" presId="urn:microsoft.com/office/officeart/2008/layout/LinedList"/>
    <dgm:cxn modelId="{DD921136-C5D0-4AEF-B1E6-045A7A2BA33F}" type="presParOf" srcId="{3EAB5DBA-3DDF-406D-9435-D5AA4166FD76}" destId="{9415BB29-4A8E-4E61-9DD2-0218E66F2E45}" srcOrd="0" destOrd="0" presId="urn:microsoft.com/office/officeart/2008/layout/LinedList"/>
    <dgm:cxn modelId="{514D9985-D73F-430E-827C-35C0B315656C}" type="presParOf" srcId="{3EAB5DBA-3DDF-406D-9435-D5AA4166FD76}" destId="{8577A9FA-6BB9-4E6A-9C2E-F2B27D1BBF26}" srcOrd="1" destOrd="0" presId="urn:microsoft.com/office/officeart/2008/layout/LinedList"/>
    <dgm:cxn modelId="{7D7B70C1-6333-4406-B2A3-B67BCECF0219}" type="presParOf" srcId="{F8D7A680-A01E-4143-96AF-8662DCAAD6E7}" destId="{994AE3E1-3D5A-4D4B-9537-563922F39674}" srcOrd="10" destOrd="0" presId="urn:microsoft.com/office/officeart/2008/layout/LinedList"/>
    <dgm:cxn modelId="{97AE420F-4FB2-4435-A053-FAA04859EC80}" type="presParOf" srcId="{F8D7A680-A01E-4143-96AF-8662DCAAD6E7}" destId="{E2E15873-700B-4738-8D55-74A380B46949}" srcOrd="11" destOrd="0" presId="urn:microsoft.com/office/officeart/2008/layout/LinedList"/>
    <dgm:cxn modelId="{80C91EE9-C1CD-467D-8E6B-AF0DECF8550F}" type="presParOf" srcId="{E2E15873-700B-4738-8D55-74A380B46949}" destId="{67B11267-0C14-4F91-8E48-82FBB4D196BC}" srcOrd="0" destOrd="0" presId="urn:microsoft.com/office/officeart/2008/layout/LinedList"/>
    <dgm:cxn modelId="{251B24E6-8EAF-4A3F-9512-E5AAE4FA2E5E}" type="presParOf" srcId="{E2E15873-700B-4738-8D55-74A380B46949}" destId="{395FBF6B-1DD1-41D7-A90B-33BA2822B058}" srcOrd="1" destOrd="0" presId="urn:microsoft.com/office/officeart/2008/layout/LinedList"/>
    <dgm:cxn modelId="{B50CA15D-7C8E-4A44-A1D5-AF02ED9A698C}" type="presParOf" srcId="{F8D7A680-A01E-4143-96AF-8662DCAAD6E7}" destId="{BC29A035-13ED-4C1C-A9F6-AE25A2F9B04A}" srcOrd="12" destOrd="0" presId="urn:microsoft.com/office/officeart/2008/layout/LinedList"/>
    <dgm:cxn modelId="{BABC9458-8F4F-4B65-BA07-EC4DC1E841B6}" type="presParOf" srcId="{F8D7A680-A01E-4143-96AF-8662DCAAD6E7}" destId="{8F28B19B-9C93-4864-9DF2-B80FEAC1CA62}" srcOrd="13" destOrd="0" presId="urn:microsoft.com/office/officeart/2008/layout/LinedList"/>
    <dgm:cxn modelId="{591CBB8A-EA97-48BC-A086-9FA4FB697A9B}" type="presParOf" srcId="{8F28B19B-9C93-4864-9DF2-B80FEAC1CA62}" destId="{35AECED3-C353-4FD7-9603-8F106EEE2EAA}" srcOrd="0" destOrd="0" presId="urn:microsoft.com/office/officeart/2008/layout/LinedList"/>
    <dgm:cxn modelId="{016F6DC5-019B-4EB2-8E6F-F68E6B21149F}" type="presParOf" srcId="{8F28B19B-9C93-4864-9DF2-B80FEAC1CA62}" destId="{B8805963-44F6-4330-BE76-1C775E3DB8B0}" srcOrd="1" destOrd="0" presId="urn:microsoft.com/office/officeart/2008/layout/LinedList"/>
    <dgm:cxn modelId="{0995CA84-6050-4A63-9530-F0EF36689A1D}" type="presParOf" srcId="{F8D7A680-A01E-4143-96AF-8662DCAAD6E7}" destId="{D7445457-BB77-4790-A7CD-3A612FA1B915}" srcOrd="14" destOrd="0" presId="urn:microsoft.com/office/officeart/2008/layout/LinedList"/>
    <dgm:cxn modelId="{EF28066D-9DC2-4986-8F92-44949D5D9488}" type="presParOf" srcId="{F8D7A680-A01E-4143-96AF-8662DCAAD6E7}" destId="{DDBF28E4-C76F-4D2B-BC5D-3D3521A04670}" srcOrd="15" destOrd="0" presId="urn:microsoft.com/office/officeart/2008/layout/LinedList"/>
    <dgm:cxn modelId="{3EF8E63C-09F8-4C7B-9B5E-1DDC0136120B}" type="presParOf" srcId="{DDBF28E4-C76F-4D2B-BC5D-3D3521A04670}" destId="{C13F1F24-FBFB-476D-B20D-C99FA94F2D6D}" srcOrd="0" destOrd="0" presId="urn:microsoft.com/office/officeart/2008/layout/LinedList"/>
    <dgm:cxn modelId="{5324B6A5-6309-4DA3-A116-22F43DDF8097}" type="presParOf" srcId="{DDBF28E4-C76F-4D2B-BC5D-3D3521A04670}" destId="{00340B13-3C2D-4045-98A3-6238C81C1D9C}" srcOrd="1" destOrd="0" presId="urn:microsoft.com/office/officeart/2008/layout/LinedList"/>
    <dgm:cxn modelId="{BD369AE1-8715-4EA3-9AB4-EA58A6A4957E}" type="presParOf" srcId="{F8D7A680-A01E-4143-96AF-8662DCAAD6E7}" destId="{B1918565-7CB4-457A-B865-C8D2586C9467}" srcOrd="16" destOrd="0" presId="urn:microsoft.com/office/officeart/2008/layout/LinedList"/>
    <dgm:cxn modelId="{A6835615-92F5-4979-A942-244D16C243B4}" type="presParOf" srcId="{F8D7A680-A01E-4143-96AF-8662DCAAD6E7}" destId="{91D7DF0D-7C35-440B-9F69-4124523341E8}" srcOrd="17" destOrd="0" presId="urn:microsoft.com/office/officeart/2008/layout/LinedList"/>
    <dgm:cxn modelId="{72244092-9330-4636-8DD0-BA1E60BAFF91}" type="presParOf" srcId="{91D7DF0D-7C35-440B-9F69-4124523341E8}" destId="{CE914FA7-B025-43B8-AE11-EC5A294662F9}" srcOrd="0" destOrd="0" presId="urn:microsoft.com/office/officeart/2008/layout/LinedList"/>
    <dgm:cxn modelId="{0D5BD474-48BF-492C-8886-A93EE49BD814}" type="presParOf" srcId="{91D7DF0D-7C35-440B-9F69-4124523341E8}" destId="{7677357F-DA8C-4E63-9CFD-0BA7DC7BDFE9}" srcOrd="1" destOrd="0" presId="urn:microsoft.com/office/officeart/2008/layout/LinedList"/>
    <dgm:cxn modelId="{1161ABAB-89AC-44E5-9B50-C67067BB301F}" type="presParOf" srcId="{F8D7A680-A01E-4143-96AF-8662DCAAD6E7}" destId="{B2152019-A4A9-4140-A9F8-23EB4C40FADC}" srcOrd="18" destOrd="0" presId="urn:microsoft.com/office/officeart/2008/layout/LinedList"/>
    <dgm:cxn modelId="{EEE5CB18-94E9-4D7E-A687-60901049F8A1}" type="presParOf" srcId="{F8D7A680-A01E-4143-96AF-8662DCAAD6E7}" destId="{B085C6EE-A633-47B1-9CBF-E52FA0CA37D2}" srcOrd="19" destOrd="0" presId="urn:microsoft.com/office/officeart/2008/layout/LinedList"/>
    <dgm:cxn modelId="{279ACE00-0C59-4D70-9A76-7C433A8F5FB5}" type="presParOf" srcId="{B085C6EE-A633-47B1-9CBF-E52FA0CA37D2}" destId="{DB05A098-A353-43F9-B642-9B103C9114C4}" srcOrd="0" destOrd="0" presId="urn:microsoft.com/office/officeart/2008/layout/LinedList"/>
    <dgm:cxn modelId="{0818A202-741C-4BDF-A92D-3FD8F8C96E80}" type="presParOf" srcId="{B085C6EE-A633-47B1-9CBF-E52FA0CA37D2}" destId="{2720FBC2-1691-49D0-BBFC-020466B75BD6}" srcOrd="1" destOrd="0" presId="urn:microsoft.com/office/officeart/2008/layout/LinedList"/>
    <dgm:cxn modelId="{D5EB5A77-D96D-4BBC-BB54-F44DA5EB22FF}" type="presParOf" srcId="{F8D7A680-A01E-4143-96AF-8662DCAAD6E7}" destId="{919F2D15-CB4D-4AED-958C-72E47688AD9D}" srcOrd="20" destOrd="0" presId="urn:microsoft.com/office/officeart/2008/layout/LinedList"/>
    <dgm:cxn modelId="{D8B01C72-FCAD-45DC-8690-D424E63176C1}" type="presParOf" srcId="{F8D7A680-A01E-4143-96AF-8662DCAAD6E7}" destId="{3E5FC1D4-40F0-4D1D-A948-AD7147976035}" srcOrd="21" destOrd="0" presId="urn:microsoft.com/office/officeart/2008/layout/LinedList"/>
    <dgm:cxn modelId="{A5C786CC-84B9-483C-A65D-B44A0F21D810}" type="presParOf" srcId="{3E5FC1D4-40F0-4D1D-A948-AD7147976035}" destId="{AC6B8D2D-D4E3-4B42-9008-A83BD708149C}" srcOrd="0" destOrd="0" presId="urn:microsoft.com/office/officeart/2008/layout/LinedList"/>
    <dgm:cxn modelId="{E563CCE1-EBF4-44EB-8C6C-40CD833E3CF0}" type="presParOf" srcId="{3E5FC1D4-40F0-4D1D-A948-AD7147976035}" destId="{7AB5B9FD-15DD-4255-89C8-FA9B9D685300}" srcOrd="1" destOrd="0" presId="urn:microsoft.com/office/officeart/2008/layout/LinedList"/>
    <dgm:cxn modelId="{6A700F02-E398-41B1-B074-38B15F7E2456}" type="presParOf" srcId="{F8D7A680-A01E-4143-96AF-8662DCAAD6E7}" destId="{B4B6D82E-A601-422E-9327-51BFBB57C56A}" srcOrd="22" destOrd="0" presId="urn:microsoft.com/office/officeart/2008/layout/LinedList"/>
    <dgm:cxn modelId="{6249555A-7A64-478A-A3A7-3F6C6B8F8F3B}" type="presParOf" srcId="{F8D7A680-A01E-4143-96AF-8662DCAAD6E7}" destId="{CB2706C2-7589-4C2D-B71B-8996FE34E7B6}" srcOrd="23" destOrd="0" presId="urn:microsoft.com/office/officeart/2008/layout/LinedList"/>
    <dgm:cxn modelId="{D1096E54-79D8-4711-9A66-71936757FDBA}" type="presParOf" srcId="{CB2706C2-7589-4C2D-B71B-8996FE34E7B6}" destId="{3C2D5F20-8FD2-4D6E-8A95-8E979231F123}" srcOrd="0" destOrd="0" presId="urn:microsoft.com/office/officeart/2008/layout/LinedList"/>
    <dgm:cxn modelId="{85EBCFD7-97CA-4572-BC60-547D1301B155}" type="presParOf" srcId="{CB2706C2-7589-4C2D-B71B-8996FE34E7B6}" destId="{98709558-B0E3-4F5A-A570-E586A8223074}" srcOrd="1" destOrd="0" presId="urn:microsoft.com/office/officeart/2008/layout/LinedList"/>
    <dgm:cxn modelId="{7CCF09C8-05BC-4437-9308-975DCA257539}" type="presParOf" srcId="{F8D7A680-A01E-4143-96AF-8662DCAAD6E7}" destId="{DF75FC30-FE12-4918-9974-7041F77E2674}" srcOrd="24" destOrd="0" presId="urn:microsoft.com/office/officeart/2008/layout/LinedList"/>
    <dgm:cxn modelId="{2BBB850E-1DC6-42B7-A4E0-F308E98345A4}" type="presParOf" srcId="{F8D7A680-A01E-4143-96AF-8662DCAAD6E7}" destId="{BA028663-750F-499F-BFF9-E5BEF0FB2F54}" srcOrd="25" destOrd="0" presId="urn:microsoft.com/office/officeart/2008/layout/LinedList"/>
    <dgm:cxn modelId="{8EDD7181-B253-4A08-8FBC-100F2AB6C58D}" type="presParOf" srcId="{BA028663-750F-499F-BFF9-E5BEF0FB2F54}" destId="{108CFF4F-A9CA-4D70-BE4F-4445295EE5E9}" srcOrd="0" destOrd="0" presId="urn:microsoft.com/office/officeart/2008/layout/LinedList"/>
    <dgm:cxn modelId="{E1284C74-07AB-446A-AF66-C5B5F7E51E2B}" type="presParOf" srcId="{BA028663-750F-499F-BFF9-E5BEF0FB2F54}" destId="{549A6D20-ACD3-45BE-91DA-44BB7F355DB9}" srcOrd="1" destOrd="0" presId="urn:microsoft.com/office/officeart/2008/layout/LinedList"/>
    <dgm:cxn modelId="{C923179D-390C-479B-8AE0-2675CCC59774}" type="presParOf" srcId="{F8D7A680-A01E-4143-96AF-8662DCAAD6E7}" destId="{A8A01FC9-140A-42EC-8389-96263C5C708C}" srcOrd="26" destOrd="0" presId="urn:microsoft.com/office/officeart/2008/layout/LinedList"/>
    <dgm:cxn modelId="{43D5680D-69F0-47C1-A233-08F638EBADD4}" type="presParOf" srcId="{F8D7A680-A01E-4143-96AF-8662DCAAD6E7}" destId="{4767BD76-E334-4C81-B45B-653F76470852}" srcOrd="27" destOrd="0" presId="urn:microsoft.com/office/officeart/2008/layout/LinedList"/>
    <dgm:cxn modelId="{DC8FF570-A977-47C4-9338-0075A7F53BC8}" type="presParOf" srcId="{4767BD76-E334-4C81-B45B-653F76470852}" destId="{4AA1E39D-755B-43BE-844A-6DFD96DB8FD2}" srcOrd="0" destOrd="0" presId="urn:microsoft.com/office/officeart/2008/layout/LinedList"/>
    <dgm:cxn modelId="{A52E4FA5-866B-496E-BE3D-F8E7440A9074}" type="presParOf" srcId="{4767BD76-E334-4C81-B45B-653F76470852}" destId="{86247800-C0BE-4650-902D-BF6AF75EF3CD}" srcOrd="1" destOrd="0" presId="urn:microsoft.com/office/officeart/2008/layout/LinedList"/>
    <dgm:cxn modelId="{CC828B7F-EACF-4690-8321-F33A3EDB6FB7}" type="presParOf" srcId="{F8D7A680-A01E-4143-96AF-8662DCAAD6E7}" destId="{8FE12465-86B6-41E4-93EC-98A6FA4D9AEB}" srcOrd="28" destOrd="0" presId="urn:microsoft.com/office/officeart/2008/layout/LinedList"/>
    <dgm:cxn modelId="{5217E800-3493-41E3-A8D7-3A0BCC274CF3}" type="presParOf" srcId="{F8D7A680-A01E-4143-96AF-8662DCAAD6E7}" destId="{44DD6A1D-CE8B-423C-8F0E-3AD54E94F288}" srcOrd="29" destOrd="0" presId="urn:microsoft.com/office/officeart/2008/layout/LinedList"/>
    <dgm:cxn modelId="{E86F6DE6-71C1-4CF8-8642-FA3FFFE8DD41}" type="presParOf" srcId="{44DD6A1D-CE8B-423C-8F0E-3AD54E94F288}" destId="{84B0CA76-E39C-49FA-A8AC-087CB217AFD3}" srcOrd="0" destOrd="0" presId="urn:microsoft.com/office/officeart/2008/layout/LinedList"/>
    <dgm:cxn modelId="{980D8848-2486-487C-B4B3-7571B15642E2}" type="presParOf" srcId="{44DD6A1D-CE8B-423C-8F0E-3AD54E94F288}" destId="{48D5A3E2-AD5A-41BE-A1B3-04CC10B22CD8}" srcOrd="1" destOrd="0" presId="urn:microsoft.com/office/officeart/2008/layout/LinedList"/>
    <dgm:cxn modelId="{1FBCEC29-98D3-4FD9-B1E2-543B2C366C98}" type="presParOf" srcId="{F8D7A680-A01E-4143-96AF-8662DCAAD6E7}" destId="{8D11E3F0-D8A2-4B63-BF21-B713961B3DE4}" srcOrd="30" destOrd="0" presId="urn:microsoft.com/office/officeart/2008/layout/LinedList"/>
    <dgm:cxn modelId="{5B5FB141-4C17-48E6-9AA2-A872DBF35852}" type="presParOf" srcId="{F8D7A680-A01E-4143-96AF-8662DCAAD6E7}" destId="{9A75C905-CE4E-4382-B30B-A4CB0365F8A4}" srcOrd="31" destOrd="0" presId="urn:microsoft.com/office/officeart/2008/layout/LinedList"/>
    <dgm:cxn modelId="{EDD09B5F-153F-4572-AF1F-EC42854A8421}" type="presParOf" srcId="{9A75C905-CE4E-4382-B30B-A4CB0365F8A4}" destId="{432917FC-C197-446F-84B4-1BC69C116864}" srcOrd="0" destOrd="0" presId="urn:microsoft.com/office/officeart/2008/layout/LinedList"/>
    <dgm:cxn modelId="{0614E978-7E57-47C2-9AC1-543D7B0AD41D}" type="presParOf" srcId="{9A75C905-CE4E-4382-B30B-A4CB0365F8A4}" destId="{5829D844-1CF1-4DB4-8F3E-A3FD1E42FE1A}"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060534-2430-4350-8167-AED8FA9779DA}">
      <dsp:nvSpPr>
        <dsp:cNvPr id="0" name=""/>
        <dsp:cNvSpPr/>
      </dsp:nvSpPr>
      <dsp:spPr>
        <a:xfrm>
          <a:off x="0" y="642"/>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F9F8A6EE-7B02-43E3-929F-4EBDE1C932B1}">
      <dsp:nvSpPr>
        <dsp:cNvPr id="0" name=""/>
        <dsp:cNvSpPr/>
      </dsp:nvSpPr>
      <dsp:spPr>
        <a:xfrm>
          <a:off x="0" y="642"/>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Times New Roman" panose="02020603050405020304" pitchFamily="18" charset="0"/>
              <a:cs typeface="Times New Roman" panose="02020603050405020304" pitchFamily="18" charset="0"/>
            </a:rPr>
            <a:t>Project Objectives</a:t>
          </a:r>
          <a:endParaRPr lang="en-US" sz="2100" kern="1200" dirty="0">
            <a:latin typeface="Times New Roman" panose="02020603050405020304" pitchFamily="18" charset="0"/>
            <a:cs typeface="Times New Roman" panose="02020603050405020304" pitchFamily="18" charset="0"/>
          </a:endParaRPr>
        </a:p>
      </dsp:txBody>
      <dsp:txXfrm>
        <a:off x="0" y="642"/>
        <a:ext cx="6832212" cy="751927"/>
      </dsp:txXfrm>
    </dsp:sp>
    <dsp:sp modelId="{31AC7C53-340D-4E1C-AE35-C9773DD96698}">
      <dsp:nvSpPr>
        <dsp:cNvPr id="0" name=""/>
        <dsp:cNvSpPr/>
      </dsp:nvSpPr>
      <dsp:spPr>
        <a:xfrm>
          <a:off x="0" y="752570"/>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B073BF89-BF21-423C-BA89-46C1F8E60BA0}">
      <dsp:nvSpPr>
        <dsp:cNvPr id="0" name=""/>
        <dsp:cNvSpPr/>
      </dsp:nvSpPr>
      <dsp:spPr>
        <a:xfrm>
          <a:off x="0" y="752570"/>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dirty="0">
              <a:latin typeface="Times New Roman" panose="02020603050405020304" pitchFamily="18" charset="0"/>
              <a:cs typeface="Times New Roman" panose="02020603050405020304" pitchFamily="18" charset="0"/>
            </a:rPr>
            <a:t>Fraud Detection using machine learning</a:t>
          </a:r>
          <a:endParaRPr lang="en-US" sz="2100" kern="1200" dirty="0">
            <a:latin typeface="Times New Roman" panose="02020603050405020304" pitchFamily="18" charset="0"/>
            <a:cs typeface="Times New Roman" panose="02020603050405020304" pitchFamily="18" charset="0"/>
          </a:endParaRPr>
        </a:p>
      </dsp:txBody>
      <dsp:txXfrm>
        <a:off x="0" y="752570"/>
        <a:ext cx="6832212" cy="751927"/>
      </dsp:txXfrm>
    </dsp:sp>
    <dsp:sp modelId="{44F2B517-D0F9-473D-8690-24B684E6449C}">
      <dsp:nvSpPr>
        <dsp:cNvPr id="0" name=""/>
        <dsp:cNvSpPr/>
      </dsp:nvSpPr>
      <dsp:spPr>
        <a:xfrm>
          <a:off x="0" y="1504498"/>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40CAB07C-81C6-4C7C-B33F-DE9D9F0B742B}">
      <dsp:nvSpPr>
        <dsp:cNvPr id="0" name=""/>
        <dsp:cNvSpPr/>
      </dsp:nvSpPr>
      <dsp:spPr>
        <a:xfrm>
          <a:off x="0" y="1504498"/>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dirty="0">
              <a:latin typeface="Times New Roman" panose="02020603050405020304" pitchFamily="18" charset="0"/>
              <a:cs typeface="Times New Roman" panose="02020603050405020304" pitchFamily="18" charset="0"/>
            </a:rPr>
            <a:t>Handle class imbalance responsibly</a:t>
          </a:r>
          <a:endParaRPr lang="en-US" sz="2100" kern="1200" dirty="0">
            <a:latin typeface="Times New Roman" panose="02020603050405020304" pitchFamily="18" charset="0"/>
            <a:cs typeface="Times New Roman" panose="02020603050405020304" pitchFamily="18" charset="0"/>
          </a:endParaRPr>
        </a:p>
      </dsp:txBody>
      <dsp:txXfrm>
        <a:off x="0" y="1504498"/>
        <a:ext cx="6832212" cy="751927"/>
      </dsp:txXfrm>
    </dsp:sp>
    <dsp:sp modelId="{3F3D2AC5-87C1-415F-8903-CD8B2DA941D3}">
      <dsp:nvSpPr>
        <dsp:cNvPr id="0" name=""/>
        <dsp:cNvSpPr/>
      </dsp:nvSpPr>
      <dsp:spPr>
        <a:xfrm>
          <a:off x="0" y="2256425"/>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D2A3D9B8-3B97-4FA8-B282-D5B7D5C029E2}">
      <dsp:nvSpPr>
        <dsp:cNvPr id="0" name=""/>
        <dsp:cNvSpPr/>
      </dsp:nvSpPr>
      <dsp:spPr>
        <a:xfrm>
          <a:off x="0" y="2256425"/>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dirty="0">
              <a:latin typeface="Times New Roman" panose="02020603050405020304" pitchFamily="18" charset="0"/>
              <a:cs typeface="Times New Roman" panose="02020603050405020304" pitchFamily="18" charset="0"/>
            </a:rPr>
            <a:t>Compare and contrast models for classification</a:t>
          </a:r>
          <a:endParaRPr lang="en-US" sz="2100" kern="1200" dirty="0">
            <a:latin typeface="Times New Roman" panose="02020603050405020304" pitchFamily="18" charset="0"/>
            <a:cs typeface="Times New Roman" panose="02020603050405020304" pitchFamily="18" charset="0"/>
          </a:endParaRPr>
        </a:p>
      </dsp:txBody>
      <dsp:txXfrm>
        <a:off x="0" y="2256425"/>
        <a:ext cx="6832212" cy="751927"/>
      </dsp:txXfrm>
    </dsp:sp>
    <dsp:sp modelId="{92317225-7F8D-494F-9E47-51A9A39C4CA9}">
      <dsp:nvSpPr>
        <dsp:cNvPr id="0" name=""/>
        <dsp:cNvSpPr/>
      </dsp:nvSpPr>
      <dsp:spPr>
        <a:xfrm>
          <a:off x="0" y="3008353"/>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FE78486E-7FA7-4FD8-904A-3CEF296C9770}">
      <dsp:nvSpPr>
        <dsp:cNvPr id="0" name=""/>
        <dsp:cNvSpPr/>
      </dsp:nvSpPr>
      <dsp:spPr>
        <a:xfrm>
          <a:off x="0" y="3008353"/>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Tune the probability thresholds for maximum recall</a:t>
          </a:r>
        </a:p>
      </dsp:txBody>
      <dsp:txXfrm>
        <a:off x="0" y="3008353"/>
        <a:ext cx="6832212" cy="751927"/>
      </dsp:txXfrm>
    </dsp:sp>
    <dsp:sp modelId="{E56131A7-A9AE-4DFC-B647-0D8606DDD7D9}">
      <dsp:nvSpPr>
        <dsp:cNvPr id="0" name=""/>
        <dsp:cNvSpPr/>
      </dsp:nvSpPr>
      <dsp:spPr>
        <a:xfrm>
          <a:off x="0" y="3760280"/>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F9F57778-41D6-4ED4-93BA-2AD2FA024FE3}">
      <dsp:nvSpPr>
        <dsp:cNvPr id="0" name=""/>
        <dsp:cNvSpPr/>
      </dsp:nvSpPr>
      <dsp:spPr>
        <a:xfrm>
          <a:off x="0" y="3760280"/>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dirty="0">
              <a:latin typeface="Times New Roman" panose="02020603050405020304" pitchFamily="18" charset="0"/>
              <a:cs typeface="Times New Roman" panose="02020603050405020304" pitchFamily="18" charset="0"/>
            </a:rPr>
            <a:t>Identify and select important driving features of fraud </a:t>
          </a:r>
          <a:br>
            <a:rPr lang="en-US" sz="2100" kern="1200" dirty="0"/>
          </a:br>
          <a:endParaRPr lang="en-US" sz="2100" kern="1200" dirty="0"/>
        </a:p>
      </dsp:txBody>
      <dsp:txXfrm>
        <a:off x="0" y="3760280"/>
        <a:ext cx="6832212" cy="751927"/>
      </dsp:txXfrm>
    </dsp:sp>
    <dsp:sp modelId="{F2EF146C-AC0F-42A9-9F10-0C594707E18B}">
      <dsp:nvSpPr>
        <dsp:cNvPr id="0" name=""/>
        <dsp:cNvSpPr/>
      </dsp:nvSpPr>
      <dsp:spPr>
        <a:xfrm>
          <a:off x="0" y="4512208"/>
          <a:ext cx="6832212"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98000"/>
                <a:lumMod val="94000"/>
              </a:schemeClr>
            </a:gs>
          </a:gsLst>
          <a:lin ang="5400000" scaled="0"/>
        </a:gradFill>
        <a:ln w="9525" cap="rnd" cmpd="sng" algn="ctr">
          <a:solidFill>
            <a:schemeClr val="dk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3">
          <a:scrgbClr r="0" g="0" b="0"/>
        </a:fillRef>
        <a:effectRef idx="2">
          <a:scrgbClr r="0" g="0" b="0"/>
        </a:effectRef>
        <a:fontRef idx="minor">
          <a:schemeClr val="lt1"/>
        </a:fontRef>
      </dsp:style>
    </dsp:sp>
    <dsp:sp modelId="{7E61792B-AD7E-4D81-9145-C7850219AD64}">
      <dsp:nvSpPr>
        <dsp:cNvPr id="0" name=""/>
        <dsp:cNvSpPr/>
      </dsp:nvSpPr>
      <dsp:spPr>
        <a:xfrm>
          <a:off x="0" y="4512208"/>
          <a:ext cx="6832212" cy="75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dirty="0">
              <a:latin typeface="Times New Roman" panose="02020603050405020304" pitchFamily="18" charset="0"/>
              <a:cs typeface="Times New Roman" panose="02020603050405020304" pitchFamily="18" charset="0"/>
            </a:rPr>
            <a:t>Give recommendations for potential business changes that can be made.</a:t>
          </a:r>
          <a:endParaRPr lang="en-US" sz="2100" kern="1200" dirty="0">
            <a:latin typeface="Times New Roman" panose="02020603050405020304" pitchFamily="18" charset="0"/>
            <a:cs typeface="Times New Roman" panose="02020603050405020304" pitchFamily="18" charset="0"/>
          </a:endParaRPr>
        </a:p>
      </dsp:txBody>
      <dsp:txXfrm>
        <a:off x="0" y="4512208"/>
        <a:ext cx="6832212" cy="7519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048D9A-F3C2-441B-BD2E-F0131A872E07}">
      <dsp:nvSpPr>
        <dsp:cNvPr id="0" name=""/>
        <dsp:cNvSpPr/>
      </dsp:nvSpPr>
      <dsp:spPr>
        <a:xfrm>
          <a:off x="0" y="0"/>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16418D8B-EEE4-4647-80D1-4AADB579472D}">
      <dsp:nvSpPr>
        <dsp:cNvPr id="0" name=""/>
        <dsp:cNvSpPr/>
      </dsp:nvSpPr>
      <dsp:spPr>
        <a:xfrm>
          <a:off x="0" y="0"/>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sz="1200" b="1" u="sng" kern="1200" dirty="0"/>
            <a:t>Business Recommendations</a:t>
          </a:r>
          <a:endParaRPr lang="en-US" sz="1200" u="sng" kern="1200" dirty="0"/>
        </a:p>
      </dsp:txBody>
      <dsp:txXfrm>
        <a:off x="0" y="0"/>
        <a:ext cx="8642558" cy="277695"/>
      </dsp:txXfrm>
    </dsp:sp>
    <dsp:sp modelId="{675FC15A-E6B7-4C49-A998-EC6EEC2ED6E3}">
      <dsp:nvSpPr>
        <dsp:cNvPr id="0" name=""/>
        <dsp:cNvSpPr/>
      </dsp:nvSpPr>
      <dsp:spPr>
        <a:xfrm>
          <a:off x="0" y="0"/>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29634C54-5CD8-4C6D-9522-76E5E0D79D48}">
      <dsp:nvSpPr>
        <dsp:cNvPr id="0" name=""/>
        <dsp:cNvSpPr/>
      </dsp:nvSpPr>
      <dsp:spPr>
        <a:xfrm>
          <a:off x="0" y="277695"/>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Strengthen Behavioral Monitoring</a:t>
          </a:r>
          <a:endParaRPr lang="en-US" sz="1200" kern="1200"/>
        </a:p>
      </dsp:txBody>
      <dsp:txXfrm>
        <a:off x="0" y="277695"/>
        <a:ext cx="8642558" cy="277695"/>
      </dsp:txXfrm>
    </dsp:sp>
    <dsp:sp modelId="{2AF00040-9C4D-4C88-A01F-3F8EE4F55D4A}">
      <dsp:nvSpPr>
        <dsp:cNvPr id="0" name=""/>
        <dsp:cNvSpPr/>
      </dsp:nvSpPr>
      <dsp:spPr>
        <a:xfrm>
          <a:off x="0" y="231590"/>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65E598D1-2257-47BE-AE37-6BFB2D3D0A92}">
      <dsp:nvSpPr>
        <dsp:cNvPr id="0" name=""/>
        <dsp:cNvSpPr/>
      </dsp:nvSpPr>
      <dsp:spPr>
        <a:xfrm>
          <a:off x="0" y="555391"/>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Implement velocity rules (e.g., flag &gt;6 transactions within 24 hours)</a:t>
          </a:r>
        </a:p>
      </dsp:txBody>
      <dsp:txXfrm>
        <a:off x="0" y="555391"/>
        <a:ext cx="8642558" cy="277695"/>
      </dsp:txXfrm>
    </dsp:sp>
    <dsp:sp modelId="{9744F549-9439-44B5-9DBD-3FF84DA925E2}">
      <dsp:nvSpPr>
        <dsp:cNvPr id="0" name=""/>
        <dsp:cNvSpPr/>
      </dsp:nvSpPr>
      <dsp:spPr>
        <a:xfrm>
          <a:off x="0" y="833087"/>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33C3790-322E-4103-877C-47038932575E}">
      <dsp:nvSpPr>
        <dsp:cNvPr id="0" name=""/>
        <dsp:cNvSpPr/>
      </dsp:nvSpPr>
      <dsp:spPr>
        <a:xfrm>
          <a:off x="0" y="833087"/>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Use timing-based alerts for rapid back-to-back transactions</a:t>
          </a:r>
        </a:p>
      </dsp:txBody>
      <dsp:txXfrm>
        <a:off x="0" y="833087"/>
        <a:ext cx="8642558" cy="277695"/>
      </dsp:txXfrm>
    </dsp:sp>
    <dsp:sp modelId="{61E3298B-D578-4DDB-8D1F-1314456DB638}">
      <dsp:nvSpPr>
        <dsp:cNvPr id="0" name=""/>
        <dsp:cNvSpPr/>
      </dsp:nvSpPr>
      <dsp:spPr>
        <a:xfrm>
          <a:off x="0" y="1110783"/>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9415BB29-4A8E-4E61-9DD2-0218E66F2E45}">
      <dsp:nvSpPr>
        <dsp:cNvPr id="0" name=""/>
        <dsp:cNvSpPr/>
      </dsp:nvSpPr>
      <dsp:spPr>
        <a:xfrm>
          <a:off x="0" y="1110783"/>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Enhance Transaction Type &amp; Device Risk Scoring</a:t>
          </a:r>
          <a:endParaRPr lang="en-US" sz="1200" kern="1200"/>
        </a:p>
      </dsp:txBody>
      <dsp:txXfrm>
        <a:off x="0" y="1110783"/>
        <a:ext cx="8642558" cy="277695"/>
      </dsp:txXfrm>
    </dsp:sp>
    <dsp:sp modelId="{994AE3E1-3D5A-4D4B-9537-563922F39674}">
      <dsp:nvSpPr>
        <dsp:cNvPr id="0" name=""/>
        <dsp:cNvSpPr/>
      </dsp:nvSpPr>
      <dsp:spPr>
        <a:xfrm>
          <a:off x="0" y="1105450"/>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67B11267-0C14-4F91-8E48-82FBB4D196BC}">
      <dsp:nvSpPr>
        <dsp:cNvPr id="0" name=""/>
        <dsp:cNvSpPr/>
      </dsp:nvSpPr>
      <dsp:spPr>
        <a:xfrm>
          <a:off x="0" y="1388479"/>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Assign higher risk scores to:</a:t>
          </a:r>
        </a:p>
      </dsp:txBody>
      <dsp:txXfrm>
        <a:off x="0" y="1388479"/>
        <a:ext cx="8642558" cy="277695"/>
      </dsp:txXfrm>
    </dsp:sp>
    <dsp:sp modelId="{BC29A035-13ED-4C1C-A9F6-AE25A2F9B04A}">
      <dsp:nvSpPr>
        <dsp:cNvPr id="0" name=""/>
        <dsp:cNvSpPr/>
      </dsp:nvSpPr>
      <dsp:spPr>
        <a:xfrm>
          <a:off x="0" y="1666175"/>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35AECED3-C353-4FD7-9603-8F106EEE2EAA}">
      <dsp:nvSpPr>
        <dsp:cNvPr id="0" name=""/>
        <dsp:cNvSpPr/>
      </dsp:nvSpPr>
      <dsp:spPr>
        <a:xfrm>
          <a:off x="0" y="1666175"/>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Bank Transfers, POS, Online Purchases, Tablet/Mobile devices</a:t>
          </a:r>
          <a:endParaRPr lang="en-US" sz="1200" kern="1200" dirty="0"/>
        </a:p>
      </dsp:txBody>
      <dsp:txXfrm>
        <a:off x="0" y="1666175"/>
        <a:ext cx="8642558" cy="277695"/>
      </dsp:txXfrm>
    </dsp:sp>
    <dsp:sp modelId="{D7445457-BB77-4790-A7CD-3A612FA1B915}">
      <dsp:nvSpPr>
        <dsp:cNvPr id="0" name=""/>
        <dsp:cNvSpPr/>
      </dsp:nvSpPr>
      <dsp:spPr>
        <a:xfrm>
          <a:off x="0" y="1943871"/>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C13F1F24-FBFB-476D-B20D-C99FA94F2D6D}">
      <dsp:nvSpPr>
        <dsp:cNvPr id="0" name=""/>
        <dsp:cNvSpPr/>
      </dsp:nvSpPr>
      <dsp:spPr>
        <a:xfrm>
          <a:off x="0" y="1943871"/>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Require additional authentication (OTP, biometric check) for risky combinations</a:t>
          </a:r>
        </a:p>
      </dsp:txBody>
      <dsp:txXfrm>
        <a:off x="0" y="1943871"/>
        <a:ext cx="8642558" cy="277695"/>
      </dsp:txXfrm>
    </dsp:sp>
    <dsp:sp modelId="{B1918565-7CB4-457A-B865-C8D2586C9467}">
      <dsp:nvSpPr>
        <dsp:cNvPr id="0" name=""/>
        <dsp:cNvSpPr/>
      </dsp:nvSpPr>
      <dsp:spPr>
        <a:xfrm>
          <a:off x="0" y="2221567"/>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CE914FA7-B025-43B8-AE11-EC5A294662F9}">
      <dsp:nvSpPr>
        <dsp:cNvPr id="0" name=""/>
        <dsp:cNvSpPr/>
      </dsp:nvSpPr>
      <dsp:spPr>
        <a:xfrm>
          <a:off x="0" y="2221567"/>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Refine Thresholds to Reduce False Negatives</a:t>
          </a:r>
          <a:endParaRPr lang="en-US" sz="1200" kern="1200"/>
        </a:p>
      </dsp:txBody>
      <dsp:txXfrm>
        <a:off x="0" y="2221567"/>
        <a:ext cx="8642558" cy="277695"/>
      </dsp:txXfrm>
    </dsp:sp>
    <dsp:sp modelId="{B2152019-A4A9-4140-A9F8-23EB4C40FADC}">
      <dsp:nvSpPr>
        <dsp:cNvPr id="0" name=""/>
        <dsp:cNvSpPr/>
      </dsp:nvSpPr>
      <dsp:spPr>
        <a:xfrm>
          <a:off x="0" y="2499263"/>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DB05A098-A353-43F9-B642-9B103C9114C4}">
      <dsp:nvSpPr>
        <dsp:cNvPr id="0" name=""/>
        <dsp:cNvSpPr/>
      </dsp:nvSpPr>
      <dsp:spPr>
        <a:xfrm>
          <a:off x="0" y="2499263"/>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Continue using </a:t>
          </a:r>
          <a:r>
            <a:rPr lang="en-US" sz="1200" b="1" kern="1200"/>
            <a:t>lower classification thresholds</a:t>
          </a:r>
          <a:r>
            <a:rPr lang="en-US" sz="1200" kern="1200"/>
            <a:t> to catch more fraud</a:t>
          </a:r>
        </a:p>
      </dsp:txBody>
      <dsp:txXfrm>
        <a:off x="0" y="2499263"/>
        <a:ext cx="8642558" cy="277695"/>
      </dsp:txXfrm>
    </dsp:sp>
    <dsp:sp modelId="{919F2D15-CB4D-4AED-958C-72E47688AD9D}">
      <dsp:nvSpPr>
        <dsp:cNvPr id="0" name=""/>
        <dsp:cNvSpPr/>
      </dsp:nvSpPr>
      <dsp:spPr>
        <a:xfrm>
          <a:off x="0" y="2776959"/>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AC6B8D2D-D4E3-4B42-9008-A83BD708149C}">
      <dsp:nvSpPr>
        <dsp:cNvPr id="0" name=""/>
        <dsp:cNvSpPr/>
      </dsp:nvSpPr>
      <dsp:spPr>
        <a:xfrm>
          <a:off x="0" y="2776959"/>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Apply dynamic thresholds based on risk level rather than a fixed cutoff</a:t>
          </a:r>
        </a:p>
      </dsp:txBody>
      <dsp:txXfrm>
        <a:off x="0" y="2776959"/>
        <a:ext cx="8642558" cy="277695"/>
      </dsp:txXfrm>
    </dsp:sp>
    <dsp:sp modelId="{B4B6D82E-A601-422E-9327-51BFBB57C56A}">
      <dsp:nvSpPr>
        <dsp:cNvPr id="0" name=""/>
        <dsp:cNvSpPr/>
      </dsp:nvSpPr>
      <dsp:spPr>
        <a:xfrm>
          <a:off x="0" y="3054655"/>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3C2D5F20-8FD2-4D6E-8A95-8E979231F123}">
      <dsp:nvSpPr>
        <dsp:cNvPr id="0" name=""/>
        <dsp:cNvSpPr/>
      </dsp:nvSpPr>
      <dsp:spPr>
        <a:xfrm>
          <a:off x="0" y="3054655"/>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sz="1200" b="1" u="sng" kern="1200" dirty="0"/>
            <a:t>Expected Business Impact</a:t>
          </a:r>
          <a:endParaRPr lang="en-US" sz="1200" u="sng" kern="1200" dirty="0"/>
        </a:p>
      </dsp:txBody>
      <dsp:txXfrm>
        <a:off x="0" y="3054655"/>
        <a:ext cx="8642558" cy="277695"/>
      </dsp:txXfrm>
    </dsp:sp>
    <dsp:sp modelId="{DF75FC30-FE12-4918-9974-7041F77E2674}">
      <dsp:nvSpPr>
        <dsp:cNvPr id="0" name=""/>
        <dsp:cNvSpPr/>
      </dsp:nvSpPr>
      <dsp:spPr>
        <a:xfrm>
          <a:off x="0" y="3332351"/>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108CFF4F-A9CA-4D70-BE4F-4445295EE5E9}">
      <dsp:nvSpPr>
        <dsp:cNvPr id="0" name=""/>
        <dsp:cNvSpPr/>
      </dsp:nvSpPr>
      <dsp:spPr>
        <a:xfrm>
          <a:off x="0" y="3332351"/>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Higher fraud detection rates</a:t>
          </a:r>
          <a:r>
            <a:rPr lang="en-US" sz="1200" kern="1200"/>
            <a:t> through behavioral and device-focused monitoring</a:t>
          </a:r>
        </a:p>
      </dsp:txBody>
      <dsp:txXfrm>
        <a:off x="0" y="3332351"/>
        <a:ext cx="8642558" cy="277695"/>
      </dsp:txXfrm>
    </dsp:sp>
    <dsp:sp modelId="{A8A01FC9-140A-42EC-8389-96263C5C708C}">
      <dsp:nvSpPr>
        <dsp:cNvPr id="0" name=""/>
        <dsp:cNvSpPr/>
      </dsp:nvSpPr>
      <dsp:spPr>
        <a:xfrm>
          <a:off x="0" y="3610047"/>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AA1E39D-755B-43BE-844A-6DFD96DB8FD2}">
      <dsp:nvSpPr>
        <dsp:cNvPr id="0" name=""/>
        <dsp:cNvSpPr/>
      </dsp:nvSpPr>
      <dsp:spPr>
        <a:xfrm>
          <a:off x="0" y="3610047"/>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Reduced financial loss</a:t>
          </a:r>
          <a:r>
            <a:rPr lang="en-US" sz="1200" kern="1200"/>
            <a:t> by catching fraudulent events earlier</a:t>
          </a:r>
        </a:p>
      </dsp:txBody>
      <dsp:txXfrm>
        <a:off x="0" y="3610047"/>
        <a:ext cx="8642558" cy="277695"/>
      </dsp:txXfrm>
    </dsp:sp>
    <dsp:sp modelId="{8FE12465-86B6-41E4-93EC-98A6FA4D9AEB}">
      <dsp:nvSpPr>
        <dsp:cNvPr id="0" name=""/>
        <dsp:cNvSpPr/>
      </dsp:nvSpPr>
      <dsp:spPr>
        <a:xfrm>
          <a:off x="0" y="3887743"/>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4B0CA76-E39C-49FA-A8AC-087CB217AFD3}">
      <dsp:nvSpPr>
        <dsp:cNvPr id="0" name=""/>
        <dsp:cNvSpPr/>
      </dsp:nvSpPr>
      <dsp:spPr>
        <a:xfrm>
          <a:off x="0" y="3887743"/>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Lower operational burden</a:t>
          </a:r>
          <a:r>
            <a:rPr lang="en-US" sz="1200" kern="1200"/>
            <a:t> through smarter, more targeted alerts</a:t>
          </a:r>
        </a:p>
      </dsp:txBody>
      <dsp:txXfrm>
        <a:off x="0" y="3887743"/>
        <a:ext cx="8642558" cy="277695"/>
      </dsp:txXfrm>
    </dsp:sp>
    <dsp:sp modelId="{8D11E3F0-D8A2-4B63-BF21-B713961B3DE4}">
      <dsp:nvSpPr>
        <dsp:cNvPr id="0" name=""/>
        <dsp:cNvSpPr/>
      </dsp:nvSpPr>
      <dsp:spPr>
        <a:xfrm>
          <a:off x="0" y="4165439"/>
          <a:ext cx="8642558" cy="0"/>
        </a:xfrm>
        <a:prstGeom prst="line">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32917FC-C197-446F-84B4-1BC69C116864}">
      <dsp:nvSpPr>
        <dsp:cNvPr id="0" name=""/>
        <dsp:cNvSpPr/>
      </dsp:nvSpPr>
      <dsp:spPr>
        <a:xfrm>
          <a:off x="0" y="4165439"/>
          <a:ext cx="8642558" cy="277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Improved customer trust</a:t>
          </a:r>
          <a:r>
            <a:rPr lang="en-US" sz="1200" kern="1200" dirty="0"/>
            <a:t>, as false positives are minimized using refined thresholding and risk scoring</a:t>
          </a:r>
        </a:p>
      </dsp:txBody>
      <dsp:txXfrm>
        <a:off x="0" y="4165439"/>
        <a:ext cx="8642558" cy="27769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F6B9EE-AF2D-43AF-B919-1D9DD5C219E9}" type="datetimeFigureOut">
              <a:rPr lang="en-US" smtClean="0"/>
              <a:t>12/6/25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5BD5D-0DF6-473B-815F-808587F85391}" type="slidenum">
              <a:rPr lang="en-US" smtClean="0"/>
              <a:t>‹#›</a:t>
            </a:fld>
            <a:endParaRPr lang="en-US"/>
          </a:p>
        </p:txBody>
      </p:sp>
    </p:spTree>
    <p:extLst>
      <p:ext uri="{BB962C8B-B14F-4D97-AF65-F5344CB8AC3E}">
        <p14:creationId xmlns:p14="http://schemas.microsoft.com/office/powerpoint/2010/main" val="3921135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45BD5D-0DF6-473B-815F-808587F85391}" type="slidenum">
              <a:rPr lang="en-US" smtClean="0"/>
              <a:t>14</a:t>
            </a:fld>
            <a:endParaRPr lang="en-US"/>
          </a:p>
        </p:txBody>
      </p:sp>
    </p:spTree>
    <p:extLst>
      <p:ext uri="{BB962C8B-B14F-4D97-AF65-F5344CB8AC3E}">
        <p14:creationId xmlns:p14="http://schemas.microsoft.com/office/powerpoint/2010/main" val="3054490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748447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2067632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962074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A601E8-C51A-4274-9121-19D3CF653792}"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179627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A601E8-C51A-4274-9121-19D3CF653792}" type="datetimeFigureOut">
              <a:rPr lang="en-US" smtClean="0"/>
              <a:t>12/6/25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4107432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A601E8-C51A-4274-9121-19D3CF653792}" type="datetimeFigureOut">
              <a:rPr lang="en-US" smtClean="0"/>
              <a:t>12/6/25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730919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A601E8-C51A-4274-9121-19D3CF653792}" type="datetimeFigureOut">
              <a:rPr lang="en-US" smtClean="0"/>
              <a:t>12/6/25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79841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601E8-C51A-4274-9121-19D3CF653792}"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268250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601E8-C51A-4274-9121-19D3CF653792}"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1723061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2104026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01552D9-8DCF-46D3-AA2B-B5B684EDF92C}"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7691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A601E8-C51A-4274-9121-19D3CF653792}"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450147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A601E8-C51A-4274-9121-19D3CF653792}"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01552D9-8DCF-46D3-AA2B-B5B684EDF92C}"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154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A601E8-C51A-4274-9121-19D3CF653792}"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347856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3742289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A601E8-C51A-4274-9121-19D3CF653792}"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01552D9-8DCF-46D3-AA2B-B5B684EDF92C}" type="slidenum">
              <a:rPr lang="en-US" smtClean="0"/>
              <a:t>‹#›</a:t>
            </a:fld>
            <a:endParaRPr lang="en-US"/>
          </a:p>
        </p:txBody>
      </p:sp>
    </p:spTree>
    <p:extLst>
      <p:ext uri="{BB962C8B-B14F-4D97-AF65-F5344CB8AC3E}">
        <p14:creationId xmlns:p14="http://schemas.microsoft.com/office/powerpoint/2010/main" val="947605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CA601E8-C51A-4274-9121-19D3CF653792}" type="datetimeFigureOut">
              <a:rPr lang="en-US" smtClean="0"/>
              <a:t>12/6/25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01552D9-8DCF-46D3-AA2B-B5B684EDF92C}" type="slidenum">
              <a:rPr lang="en-US" smtClean="0"/>
              <a:t>‹#›</a:t>
            </a:fld>
            <a:endParaRPr lang="en-US"/>
          </a:p>
        </p:txBody>
      </p:sp>
    </p:spTree>
    <p:extLst>
      <p:ext uri="{BB962C8B-B14F-4D97-AF65-F5344CB8AC3E}">
        <p14:creationId xmlns:p14="http://schemas.microsoft.com/office/powerpoint/2010/main" val="66088937"/>
      </p:ext>
    </p:extLst>
  </p:cSld>
  <p:clrMap bg1="lt1" tx1="dk1" bg2="lt2" tx2="dk2" accent1="accent1" accent2="accent2" accent3="accent3" accent4="accent4" accent5="accent5" accent6="accent6" hlink="hlink" folHlink="folHlink"/>
  <p:sldLayoutIdLst>
    <p:sldLayoutId id="2147484588" r:id="rId1"/>
    <p:sldLayoutId id="2147484589" r:id="rId2"/>
    <p:sldLayoutId id="2147484590" r:id="rId3"/>
    <p:sldLayoutId id="2147484591" r:id="rId4"/>
    <p:sldLayoutId id="2147484592" r:id="rId5"/>
    <p:sldLayoutId id="2147484593" r:id="rId6"/>
    <p:sldLayoutId id="2147484594" r:id="rId7"/>
    <p:sldLayoutId id="2147484595" r:id="rId8"/>
    <p:sldLayoutId id="2147484596" r:id="rId9"/>
    <p:sldLayoutId id="2147484597" r:id="rId10"/>
    <p:sldLayoutId id="2147484598" r:id="rId11"/>
    <p:sldLayoutId id="2147484599" r:id="rId12"/>
    <p:sldLayoutId id="2147484600" r:id="rId13"/>
    <p:sldLayoutId id="2147484601" r:id="rId14"/>
    <p:sldLayoutId id="2147484602" r:id="rId15"/>
    <p:sldLayoutId id="214748460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4.jpe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6"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7"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1"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35"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37"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41"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43"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45"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9"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60"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61"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62"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63"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4"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5"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6"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7"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8"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9"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70"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71"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72"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11">
            <a:extLst>
              <a:ext uri="{FF2B5EF4-FFF2-40B4-BE49-F238E27FC236}">
                <a16:creationId xmlns:a16="http://schemas.microsoft.com/office/drawing/2014/main" id="{BFE4781A-41C7-4F27-8792-A74EFB8E5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useBgFill="1">
        <p:nvSpPr>
          <p:cNvPr id="40" name="Rectangle 39">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820FD-F544-9125-488B-48EC4842190C}"/>
              </a:ext>
            </a:extLst>
          </p:cNvPr>
          <p:cNvSpPr>
            <a:spLocks noGrp="1"/>
          </p:cNvSpPr>
          <p:nvPr>
            <p:ph type="ctrTitle"/>
          </p:nvPr>
        </p:nvSpPr>
        <p:spPr>
          <a:xfrm>
            <a:off x="1046019" y="942108"/>
            <a:ext cx="3256550" cy="4969113"/>
          </a:xfrm>
        </p:spPr>
        <p:txBody>
          <a:bodyPr vert="horz" lIns="91440" tIns="45720" rIns="91440" bIns="45720" rtlCol="0" anchor="ctr">
            <a:normAutofit/>
          </a:bodyPr>
          <a:lstStyle/>
          <a:p>
            <a:r>
              <a:rPr lang="en-US" sz="3600" b="1" dirty="0">
                <a:solidFill>
                  <a:schemeClr val="tx2">
                    <a:lumMod val="75000"/>
                  </a:schemeClr>
                </a:solidFill>
                <a:latin typeface="Times New Roman" panose="02020603050405020304" pitchFamily="18" charset="0"/>
                <a:cs typeface="Times New Roman" panose="02020603050405020304" pitchFamily="18" charset="0"/>
              </a:rPr>
              <a:t>Project Title: </a:t>
            </a:r>
            <a:r>
              <a:rPr lang="en-US" sz="3600" dirty="0">
                <a:solidFill>
                  <a:schemeClr val="tx2">
                    <a:lumMod val="75000"/>
                  </a:schemeClr>
                </a:solidFill>
                <a:latin typeface="Times New Roman" panose="02020603050405020304" pitchFamily="18" charset="0"/>
                <a:cs typeface="Times New Roman" panose="02020603050405020304" pitchFamily="18" charset="0"/>
              </a:rPr>
              <a:t>Fraud Detection in Financial Transactions</a:t>
            </a:r>
          </a:p>
        </p:txBody>
      </p:sp>
      <p:sp>
        <p:nvSpPr>
          <p:cNvPr id="42" name="Rectangle 41">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44" name="Straight Connector 43">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73"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74"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75"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76"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77"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78"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79"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80"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81"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82"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83"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84"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3" name="Subtitle 2">
            <a:extLst>
              <a:ext uri="{FF2B5EF4-FFF2-40B4-BE49-F238E27FC236}">
                <a16:creationId xmlns:a16="http://schemas.microsoft.com/office/drawing/2014/main" id="{9064C26B-4740-790F-65D7-D999A845049B}"/>
              </a:ext>
            </a:extLst>
          </p:cNvPr>
          <p:cNvSpPr>
            <a:spLocks noGrp="1"/>
          </p:cNvSpPr>
          <p:nvPr>
            <p:ph type="subTitle" idx="1"/>
          </p:nvPr>
        </p:nvSpPr>
        <p:spPr>
          <a:xfrm>
            <a:off x="5049062" y="942108"/>
            <a:ext cx="6455549" cy="4969114"/>
          </a:xfrm>
        </p:spPr>
        <p:txBody>
          <a:bodyPr vert="horz" lIns="91440" tIns="45720" rIns="91440" bIns="45720" rtlCol="0" anchor="ctr">
            <a:normAutofit/>
          </a:bodyPr>
          <a:lstStyle/>
          <a:p>
            <a:r>
              <a:rPr lang="en-US" b="1" dirty="0">
                <a:solidFill>
                  <a:schemeClr val="tx2">
                    <a:lumMod val="75000"/>
                  </a:schemeClr>
                </a:solidFill>
                <a:latin typeface="Times New Roman" panose="02020603050405020304" pitchFamily="18" charset="0"/>
                <a:cs typeface="Times New Roman" panose="02020603050405020304" pitchFamily="18" charset="0"/>
              </a:rPr>
              <a:t>Group Members:</a:t>
            </a:r>
          </a:p>
          <a:p>
            <a:pPr marL="285750" indent="-285750">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Bista, Hirendra (M.S. Geography)</a:t>
            </a:r>
          </a:p>
          <a:p>
            <a:pPr marL="285750" indent="-285750">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Borad, Shivangi </a:t>
            </a:r>
            <a:r>
              <a:rPr lang="en-US" dirty="0" err="1">
                <a:solidFill>
                  <a:schemeClr val="tx2">
                    <a:lumMod val="75000"/>
                  </a:schemeClr>
                </a:solidFill>
                <a:latin typeface="Times New Roman" panose="02020603050405020304" pitchFamily="18" charset="0"/>
                <a:cs typeface="Times New Roman" panose="02020603050405020304" pitchFamily="18" charset="0"/>
              </a:rPr>
              <a:t>Vipulbhai</a:t>
            </a:r>
            <a:endParaRPr lang="en-US"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err="1">
                <a:solidFill>
                  <a:schemeClr val="tx2">
                    <a:lumMod val="75000"/>
                  </a:schemeClr>
                </a:solidFill>
                <a:latin typeface="Times New Roman" panose="02020603050405020304" pitchFamily="18" charset="0"/>
                <a:cs typeface="Times New Roman" panose="02020603050405020304" pitchFamily="18" charset="0"/>
              </a:rPr>
              <a:t>Keesari</a:t>
            </a:r>
            <a:r>
              <a:rPr lang="en-US" dirty="0">
                <a:solidFill>
                  <a:schemeClr val="tx2">
                    <a:lumMod val="75000"/>
                  </a:schemeClr>
                </a:solidFill>
                <a:latin typeface="Times New Roman" panose="02020603050405020304" pitchFamily="18" charset="0"/>
                <a:cs typeface="Times New Roman" panose="02020603050405020304" pitchFamily="18" charset="0"/>
              </a:rPr>
              <a:t>, Suma Reddy</a:t>
            </a:r>
          </a:p>
          <a:p>
            <a:pPr marL="285750" indent="-285750">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Podduturu, Pooja ( M.S. Health Data Analytics)</a:t>
            </a:r>
          </a:p>
          <a:p>
            <a:pPr marL="285750" indent="-285750">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Ramineni, Madhumitha Chowdary</a:t>
            </a:r>
          </a:p>
          <a:p>
            <a:pPr indent="-228600">
              <a:buFont typeface="Wingdings 3" charset="2"/>
              <a:buChar char=""/>
            </a:pPr>
            <a:endParaRPr lang="en-US" dirty="0">
              <a:solidFill>
                <a:schemeClr val="tx2">
                  <a:lumMod val="75000"/>
                </a:schemeClr>
              </a:solidFill>
            </a:endParaRPr>
          </a:p>
        </p:txBody>
      </p:sp>
    </p:spTree>
    <p:extLst>
      <p:ext uri="{BB962C8B-B14F-4D97-AF65-F5344CB8AC3E}">
        <p14:creationId xmlns:p14="http://schemas.microsoft.com/office/powerpoint/2010/main" val="224600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3D9AEEE-1CCD-43C0-BA3E-16D60A6E2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4FE619-9AA7-EAF2-9DB1-5DD326D6129B}"/>
              </a:ext>
            </a:extLst>
          </p:cNvPr>
          <p:cNvSpPr>
            <a:spLocks noGrp="1"/>
          </p:cNvSpPr>
          <p:nvPr>
            <p:ph type="title"/>
          </p:nvPr>
        </p:nvSpPr>
        <p:spPr>
          <a:xfrm>
            <a:off x="990770" y="1759268"/>
            <a:ext cx="2454052" cy="3029344"/>
          </a:xfrm>
        </p:spPr>
        <p:txBody>
          <a:bodyPr>
            <a:noAutofit/>
          </a:bodyPr>
          <a:lstStyle/>
          <a:p>
            <a:pPr>
              <a:lnSpc>
                <a:spcPct val="90000"/>
              </a:lnSpc>
            </a:pPr>
            <a:r>
              <a:rPr lang="en-US" sz="2800" b="1" dirty="0">
                <a:solidFill>
                  <a:schemeClr val="bg1"/>
                </a:solidFill>
                <a:latin typeface="Times New Roman" panose="02020603050405020304" pitchFamily="18" charset="0"/>
                <a:cs typeface="Times New Roman" panose="02020603050405020304" pitchFamily="18" charset="0"/>
              </a:rPr>
              <a:t> Goal:  </a:t>
            </a:r>
            <a:r>
              <a:rPr lang="en-US" sz="2800" dirty="0">
                <a:solidFill>
                  <a:schemeClr val="bg1"/>
                </a:solidFill>
                <a:latin typeface="Times New Roman" panose="02020603050405020304" pitchFamily="18" charset="0"/>
                <a:cs typeface="Times New Roman" panose="02020603050405020304" pitchFamily="18" charset="0"/>
              </a:rPr>
              <a:t>To build a machine learning model to predict fraudulent financial transactions.</a:t>
            </a:r>
            <a:br>
              <a:rPr lang="en-US" sz="2800" dirty="0">
                <a:solidFill>
                  <a:schemeClr val="bg1"/>
                </a:solidFill>
                <a:latin typeface="Times New Roman" panose="02020603050405020304" pitchFamily="18" charset="0"/>
                <a:cs typeface="Times New Roman" panose="02020603050405020304" pitchFamily="18" charset="0"/>
              </a:rPr>
            </a:b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7" name="Freeform 11">
            <a:extLst>
              <a:ext uri="{FF2B5EF4-FFF2-40B4-BE49-F238E27FC236}">
                <a16:creationId xmlns:a16="http://schemas.microsoft.com/office/drawing/2014/main" id="{60F880A6-33D3-4EEC-A780-B73559B9F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useBgFill="1">
        <p:nvSpPr>
          <p:cNvPr id="18" name="Rectangle 17">
            <a:extLst>
              <a:ext uri="{FF2B5EF4-FFF2-40B4-BE49-F238E27FC236}">
                <a16:creationId xmlns:a16="http://schemas.microsoft.com/office/drawing/2014/main" id="{2C6246ED-0535-4496-A8F6-1E80CC4E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B50DD03-C5E9-71E2-3630-AC9B00D708B6}"/>
              </a:ext>
            </a:extLst>
          </p:cNvPr>
          <p:cNvGraphicFramePr>
            <a:graphicFrameLocks noGrp="1"/>
          </p:cNvGraphicFramePr>
          <p:nvPr>
            <p:ph idx="1"/>
            <p:extLst>
              <p:ext uri="{D42A27DB-BD31-4B8C-83A1-F6EECF244321}">
                <p14:modId xmlns:p14="http://schemas.microsoft.com/office/powerpoint/2010/main" val="2791508827"/>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517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9DF2B-010D-6342-9F1E-3ED8F4C00C4B}"/>
              </a:ext>
            </a:extLst>
          </p:cNvPr>
          <p:cNvSpPr>
            <a:spLocks noGrp="1"/>
          </p:cNvSpPr>
          <p:nvPr>
            <p:ph type="title"/>
          </p:nvPr>
        </p:nvSpPr>
        <p:spPr>
          <a:xfrm>
            <a:off x="649224" y="645106"/>
            <a:ext cx="3650279" cy="1259894"/>
          </a:xfrm>
        </p:spPr>
        <p:txBody>
          <a:bodyPr>
            <a:normAutofit/>
          </a:bodyPr>
          <a:lstStyle/>
          <a:p>
            <a:pPr>
              <a:lnSpc>
                <a:spcPct val="90000"/>
              </a:lnSpc>
            </a:pPr>
            <a:r>
              <a:rPr lang="en-US" sz="1700" dirty="0">
                <a:latin typeface="Times New Roman" panose="02020603050405020304" pitchFamily="18" charset="0"/>
                <a:cs typeface="Times New Roman" panose="02020603050405020304" pitchFamily="18" charset="0"/>
              </a:rPr>
              <a:t>Dataset Overview</a:t>
            </a:r>
            <a:br>
              <a:rPr lang="en-US" sz="1700" dirty="0">
                <a:latin typeface="Times New Roman" panose="02020603050405020304" pitchFamily="18" charset="0"/>
                <a:cs typeface="Times New Roman" panose="02020603050405020304" pitchFamily="18" charset="0"/>
              </a:rPr>
            </a:br>
            <a:r>
              <a:rPr lang="en-US" sz="1700" b="1" dirty="0">
                <a:latin typeface="Times New Roman" panose="02020603050405020304" pitchFamily="18" charset="0"/>
                <a:cs typeface="Times New Roman" panose="02020603050405020304" pitchFamily="18" charset="0"/>
              </a:rPr>
              <a:t>Total Features:</a:t>
            </a:r>
            <a:r>
              <a:rPr lang="en-US" sz="1700" dirty="0">
                <a:latin typeface="Times New Roman" panose="02020603050405020304" pitchFamily="18" charset="0"/>
                <a:cs typeface="Times New Roman" panose="02020603050405020304" pitchFamily="18" charset="0"/>
              </a:rPr>
              <a:t> 12</a:t>
            </a:r>
            <a:br>
              <a:rPr lang="en-US" sz="1700" dirty="0">
                <a:latin typeface="Times New Roman" panose="02020603050405020304" pitchFamily="18" charset="0"/>
                <a:cs typeface="Times New Roman" panose="02020603050405020304" pitchFamily="18" charset="0"/>
              </a:rPr>
            </a:br>
            <a:r>
              <a:rPr lang="en-US" sz="1700" b="1" dirty="0">
                <a:latin typeface="Times New Roman" panose="02020603050405020304" pitchFamily="18" charset="0"/>
                <a:cs typeface="Times New Roman" panose="02020603050405020304" pitchFamily="18" charset="0"/>
              </a:rPr>
              <a:t>Target Variable:</a:t>
            </a:r>
            <a:r>
              <a:rPr lang="en-US" sz="1700" dirty="0">
                <a:latin typeface="Times New Roman" panose="02020603050405020304" pitchFamily="18" charset="0"/>
                <a:cs typeface="Times New Roman" panose="02020603050405020304" pitchFamily="18" charset="0"/>
              </a:rPr>
              <a:t> Fraudulent (0 = Not Fraud, 1 = Fraud)</a:t>
            </a:r>
            <a:br>
              <a:rPr lang="en-US" sz="1700" dirty="0">
                <a:latin typeface="Times New Roman" panose="02020603050405020304" pitchFamily="18" charset="0"/>
                <a:cs typeface="Times New Roman" panose="02020603050405020304" pitchFamily="18" charset="0"/>
              </a:rPr>
            </a:br>
            <a:endParaRPr lang="en-US" sz="1700"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Content Placeholder 6">
            <a:extLst>
              <a:ext uri="{FF2B5EF4-FFF2-40B4-BE49-F238E27FC236}">
                <a16:creationId xmlns:a16="http://schemas.microsoft.com/office/drawing/2014/main" id="{33ADDC40-9334-801C-FDC0-A4E5BA277076}"/>
              </a:ext>
            </a:extLst>
          </p:cNvPr>
          <p:cNvSpPr>
            <a:spLocks noGrp="1"/>
          </p:cNvSpPr>
          <p:nvPr>
            <p:ph idx="1"/>
          </p:nvPr>
        </p:nvSpPr>
        <p:spPr>
          <a:xfrm>
            <a:off x="649225" y="2133600"/>
            <a:ext cx="3650278" cy="3759253"/>
          </a:xfrm>
        </p:spPr>
        <p:txBody>
          <a:bodyPr>
            <a:normAutofit/>
          </a:bodyPr>
          <a:lstStyle/>
          <a:p>
            <a:pPr marL="0" indent="0">
              <a:lnSpc>
                <a:spcPct val="90000"/>
              </a:lnSpc>
              <a:buNone/>
            </a:pPr>
            <a:r>
              <a:rPr lang="en-US" b="1" dirty="0">
                <a:latin typeface="Times New Roman" panose="02020603050405020304" pitchFamily="18" charset="0"/>
                <a:cs typeface="Times New Roman" panose="02020603050405020304" pitchFamily="18" charset="0"/>
              </a:rPr>
              <a:t>Data Understanding &amp; Initial Observations</a:t>
            </a:r>
          </a:p>
          <a:p>
            <a:pPr>
              <a:lnSpc>
                <a:spcPct val="9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are missing values mostly in the categorical fields. </a:t>
            </a:r>
          </a:p>
          <a:p>
            <a:pPr>
              <a:lnSpc>
                <a:spcPct val="9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Fraud rate is low → high class imbalance </a:t>
            </a:r>
          </a:p>
          <a:p>
            <a:pPr>
              <a:lnSpc>
                <a:spcPct val="9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Important behavioral variables: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Hours since last transaction Number of transactions in last 24 hours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Device used</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8" name="Content Placeholder 4" descr="A screenshot of a data dictionary">
            <a:extLst>
              <a:ext uri="{FF2B5EF4-FFF2-40B4-BE49-F238E27FC236}">
                <a16:creationId xmlns:a16="http://schemas.microsoft.com/office/drawing/2014/main" id="{92EB6D22-777B-5BA3-17A0-10B18CB815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4879" y="640080"/>
            <a:ext cx="5502905" cy="5252773"/>
          </a:xfrm>
          <a:prstGeom prst="rect">
            <a:avLst/>
          </a:prstGeom>
        </p:spPr>
      </p:pic>
      <p:sp>
        <p:nvSpPr>
          <p:cNvPr id="1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5829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F72A1-8319-4772-C919-147A00D5ABF9}"/>
              </a:ext>
            </a:extLst>
          </p:cNvPr>
          <p:cNvSpPr>
            <a:spLocks noGrp="1"/>
          </p:cNvSpPr>
          <p:nvPr>
            <p:ph type="title"/>
          </p:nvPr>
        </p:nvSpPr>
        <p:spPr>
          <a:xfrm>
            <a:off x="649224" y="645106"/>
            <a:ext cx="6574536" cy="1259894"/>
          </a:xfrm>
        </p:spPr>
        <p:txBody>
          <a:bodyPr>
            <a:normAutofit/>
          </a:bodyPr>
          <a:lstStyle/>
          <a:p>
            <a:r>
              <a:rPr lang="en-US" sz="3300" dirty="0">
                <a:latin typeface="Times New Roman" panose="02020603050405020304" pitchFamily="18" charset="0"/>
                <a:cs typeface="Times New Roman" panose="02020603050405020304" pitchFamily="18" charset="0"/>
              </a:rPr>
              <a:t>Fraud Frequency Based on Last 24-Hour Transaction Count</a:t>
            </a:r>
          </a:p>
        </p:txBody>
      </p:sp>
      <p:sp>
        <p:nvSpPr>
          <p:cNvPr id="17" name="Rectangle 16">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B41D91D-FD63-6EAF-005A-1AF4A0A0A552}"/>
              </a:ext>
            </a:extLst>
          </p:cNvPr>
          <p:cNvSpPr>
            <a:spLocks noGrp="1"/>
          </p:cNvSpPr>
          <p:nvPr>
            <p:ph idx="1"/>
          </p:nvPr>
        </p:nvSpPr>
        <p:spPr>
          <a:xfrm>
            <a:off x="649224" y="1905000"/>
            <a:ext cx="6912864" cy="4573514"/>
          </a:xfrm>
        </p:spPr>
        <p:txBody>
          <a:bodyPr>
            <a:noAutofit/>
          </a:bodyPr>
          <a:lstStyle/>
          <a:p>
            <a:pPr marL="0" indent="0">
              <a:lnSpc>
                <a:spcPct val="90000"/>
              </a:lnSpc>
              <a:buNone/>
            </a:pPr>
            <a:r>
              <a:rPr lang="en-US" sz="1200" b="1" dirty="0">
                <a:latin typeface="Times New Roman" panose="02020603050405020304" pitchFamily="18" charset="0"/>
                <a:cs typeface="Times New Roman" panose="02020603050405020304" pitchFamily="18" charset="0"/>
              </a:rPr>
              <a:t>Trend Overview</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chart illustrates the variation in fraud counts by the number of transactions a user made in the last 24 hours.</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Fraud counts are mainly consistent around most transaction frequencies. </a:t>
            </a:r>
          </a:p>
          <a:p>
            <a:pPr marL="0" indent="0">
              <a:lnSpc>
                <a:spcPct val="90000"/>
              </a:lnSpc>
              <a:buNone/>
            </a:pPr>
            <a:r>
              <a:rPr lang="en-US" sz="1200" b="1" dirty="0">
                <a:latin typeface="Times New Roman" panose="02020603050405020304" pitchFamily="18" charset="0"/>
                <a:cs typeface="Times New Roman" panose="02020603050405020304" pitchFamily="18" charset="0"/>
              </a:rPr>
              <a:t>Key Insight</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Fraud count at 6 transactions sharply rises to over 200, which is quite a lot higher than other points. It means that users with moderately high activity might be those who are in a higher fraud risk. </a:t>
            </a:r>
          </a:p>
          <a:p>
            <a:pPr marL="0" indent="0">
              <a:lnSpc>
                <a:spcPct val="90000"/>
              </a:lnSpc>
              <a:buNone/>
            </a:pPr>
            <a:r>
              <a:rPr lang="en-US" sz="1200" b="1" dirty="0">
                <a:latin typeface="Times New Roman" panose="02020603050405020304" pitchFamily="18" charset="0"/>
                <a:cs typeface="Times New Roman" panose="02020603050405020304" pitchFamily="18" charset="0"/>
              </a:rPr>
              <a:t> Velocity Feature Importance</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variable Number_of_Transactions_Last_24H is considered a velocity feature. </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Velocity features indicate the speed or frequency of user transactions and are typically used in fraud detection. </a:t>
            </a:r>
          </a:p>
          <a:p>
            <a:pPr marL="0" indent="0">
              <a:lnSpc>
                <a:spcPct val="90000"/>
              </a:lnSpc>
              <a:buNone/>
            </a:pPr>
            <a:r>
              <a:rPr lang="en-US" sz="1200" b="1" dirty="0">
                <a:latin typeface="Times New Roman" panose="02020603050405020304" pitchFamily="18" charset="0"/>
                <a:cs typeface="Times New Roman" panose="02020603050405020304" pitchFamily="18" charset="0"/>
              </a:rPr>
              <a:t> Business Interpretation</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Users with increased transaction activity may exhibit more fraudulent behavior. </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Could indicate:</a:t>
            </a:r>
          </a:p>
          <a:p>
            <a:pPr lvl="1">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Bot-like or automated activity</a:t>
            </a:r>
          </a:p>
          <a:p>
            <a:pPr lvl="1">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Card testing attempts</a:t>
            </a:r>
          </a:p>
          <a:p>
            <a:pPr lvl="1">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Rapid-fire transactions making it hard to ​‍​‌‍​‍‌​‍​‌‍​‍‌track</a:t>
            </a:r>
          </a:p>
        </p:txBody>
      </p:sp>
      <p:pic>
        <p:nvPicPr>
          <p:cNvPr id="5" name="Picture 4" descr="A graph of a number of transactions&#10;&#10;AI-generated content may be incorrect.">
            <a:extLst>
              <a:ext uri="{FF2B5EF4-FFF2-40B4-BE49-F238E27FC236}">
                <a16:creationId xmlns:a16="http://schemas.microsoft.com/office/drawing/2014/main" id="{F731AA66-AE47-0F17-7AC9-2D84DCC16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2924" y="775652"/>
            <a:ext cx="4629912" cy="5538709"/>
          </a:xfrm>
          <a:prstGeom prst="rect">
            <a:avLst/>
          </a:prstGeom>
        </p:spPr>
      </p:pic>
      <p:sp>
        <p:nvSpPr>
          <p:cNvPr id="18"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1323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796054-E4EA-E6E7-38FD-6AF98E3419F0}"/>
              </a:ext>
            </a:extLst>
          </p:cNvPr>
          <p:cNvSpPr>
            <a:spLocks noGrp="1"/>
          </p:cNvSpPr>
          <p:nvPr>
            <p:ph type="title"/>
          </p:nvPr>
        </p:nvSpPr>
        <p:spPr>
          <a:xfrm>
            <a:off x="885621" y="181769"/>
            <a:ext cx="3650279" cy="1004774"/>
          </a:xfrm>
        </p:spPr>
        <p:txBody>
          <a:bodyPr>
            <a:normAutofit fontScale="90000"/>
          </a:bodyPr>
          <a:lstStyle/>
          <a:p>
            <a:pPr>
              <a:lnSpc>
                <a:spcPct val="90000"/>
              </a:lnSpc>
            </a:pPr>
            <a:r>
              <a:rPr lang="en-US" sz="2000" b="1" dirty="0">
                <a:latin typeface="Times New Roman" panose="02020603050405020304" pitchFamily="18" charset="0"/>
                <a:cs typeface="Times New Roman" panose="02020603050405020304" pitchFamily="18" charset="0"/>
              </a:rPr>
              <a:t>Key EDA Findings </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Fraudulent vs Non-Fraudulent Transactions Over Time</a:t>
            </a:r>
            <a:br>
              <a:rPr lang="en-US" sz="2000" b="1" dirty="0"/>
            </a:br>
            <a:endParaRPr lang="en-US" sz="2000"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Rectangle 1">
            <a:extLst>
              <a:ext uri="{FF2B5EF4-FFF2-40B4-BE49-F238E27FC236}">
                <a16:creationId xmlns:a16="http://schemas.microsoft.com/office/drawing/2014/main" id="{52EA4489-6298-2615-4361-67E8A06EF6E8}"/>
              </a:ext>
            </a:extLst>
          </p:cNvPr>
          <p:cNvSpPr>
            <a:spLocks noGrp="1" noChangeArrowheads="1"/>
          </p:cNvSpPr>
          <p:nvPr>
            <p:ph idx="1"/>
          </p:nvPr>
        </p:nvSpPr>
        <p:spPr bwMode="auto">
          <a:xfrm>
            <a:off x="649225" y="1186544"/>
            <a:ext cx="3803032" cy="54972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lvl="0" defTabSz="914400" eaLnBrk="0" fontAlgn="base" hangingPunct="0">
              <a:lnSpc>
                <a:spcPct val="90000"/>
              </a:lnSpc>
              <a:spcBef>
                <a:spcPct val="0"/>
              </a:spcBef>
              <a:spcAft>
                <a:spcPts val="600"/>
              </a:spcAft>
              <a:buClrTx/>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line diagram illustrates the hourly changes in the number of transactions that were made throughout a day (0–23 hours)</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Non-fraudulent transactions are always significantly more than fraudulent ones, fluctuating around 1850–2000 per hour. </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Fraudulent transactions are kept at a minimal level but are consistent, with an average of 80–120 per hour for most hours. </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rise of fraudulent transactions around the 15–17 hours is only slight and implies that these could be the periods of high-risk. </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As a result of the analysis of the two types of transactions, it has been established that they both have the same hourly patterns, which shows that fraud is usually committed during the hours when there is a high volume of transactions. </a:t>
            </a:r>
          </a:p>
          <a:p>
            <a:pPr>
              <a:lnSpc>
                <a:spcPct val="90000"/>
              </a:lnSpc>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Business Insight: </a:t>
            </a:r>
            <a:r>
              <a:rPr lang="en-US" sz="1200" dirty="0">
                <a:latin typeface="Times New Roman" panose="02020603050405020304" pitchFamily="18" charset="0"/>
                <a:cs typeface="Times New Roman" panose="02020603050405020304" pitchFamily="18" charset="0"/>
              </a:rPr>
              <a:t>Fraudsters tend to blend in with normal traffic—just watching for volume spikes is not enough. We need behavior-based detection models. </a:t>
            </a:r>
          </a:p>
          <a:p>
            <a:pPr>
              <a:lnSpc>
                <a:spcPct val="90000"/>
              </a:lnSpc>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Model's implication: </a:t>
            </a:r>
            <a:r>
              <a:rPr lang="en-US" sz="1200" dirty="0">
                <a:latin typeface="Times New Roman" panose="02020603050405020304" pitchFamily="18" charset="0"/>
                <a:cs typeface="Times New Roman" panose="02020603050405020304" pitchFamily="18" charset="0"/>
              </a:rPr>
              <a:t>The time-of-day feature is useful, but not very strong when taken alone. Prediction accuracy will be better if it is combined with user-level and transaction-level ​‍​‌‍​‍‌​‍​‌‍​‍‌variables. </a:t>
            </a:r>
          </a:p>
        </p:txBody>
      </p:sp>
      <p:pic>
        <p:nvPicPr>
          <p:cNvPr id="7" name="Picture 6" descr="A graph of a graph showing the same number of transactions&#10;&#10;AI-generated content may be incorrect.">
            <a:extLst>
              <a:ext uri="{FF2B5EF4-FFF2-40B4-BE49-F238E27FC236}">
                <a16:creationId xmlns:a16="http://schemas.microsoft.com/office/drawing/2014/main" id="{7435D79C-C4F8-E1E9-E51E-795E0670B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9543" y="1362925"/>
            <a:ext cx="6953577" cy="3807082"/>
          </a:xfrm>
          <a:prstGeom prst="rect">
            <a:avLst/>
          </a:prstGeom>
        </p:spPr>
      </p:pic>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0954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8E84C-08A9-B4EC-4060-5AB106D4AC61}"/>
              </a:ext>
            </a:extLst>
          </p:cNvPr>
          <p:cNvSpPr>
            <a:spLocks noGrp="1"/>
          </p:cNvSpPr>
          <p:nvPr>
            <p:ph type="title"/>
          </p:nvPr>
        </p:nvSpPr>
        <p:spPr>
          <a:xfrm>
            <a:off x="648457" y="196419"/>
            <a:ext cx="10352052" cy="1068223"/>
          </a:xfrm>
        </p:spPr>
        <p:txBody>
          <a:bodyPr>
            <a:normAutofit/>
          </a:bodyPr>
          <a:lstStyle/>
          <a:p>
            <a:r>
              <a:rPr lang="en-US" dirty="0">
                <a:latin typeface="Times New Roman" panose="02020603050405020304" pitchFamily="18" charset="0"/>
                <a:cs typeface="Times New Roman" panose="02020603050405020304" pitchFamily="18" charset="0"/>
              </a:rPr>
              <a:t>Fraud Patterns Across Different Locations</a:t>
            </a:r>
          </a:p>
        </p:txBody>
      </p:sp>
      <p:sp>
        <p:nvSpPr>
          <p:cNvPr id="17" name="Rectangle 16">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D0B4353E-593A-DC5D-F942-42B27C76F612}"/>
              </a:ext>
            </a:extLst>
          </p:cNvPr>
          <p:cNvSpPr>
            <a:spLocks noGrp="1"/>
          </p:cNvSpPr>
          <p:nvPr>
            <p:ph idx="1"/>
          </p:nvPr>
        </p:nvSpPr>
        <p:spPr>
          <a:xfrm>
            <a:off x="649224" y="951345"/>
            <a:ext cx="5883675" cy="5901908"/>
          </a:xfrm>
        </p:spPr>
        <p:txBody>
          <a:bodyPr>
            <a:noAutofit/>
          </a:bodyPr>
          <a:lstStyle/>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All​‍​‌‍​‍‌​‍​‌‍​‍‌ cities are displaying a high and comparable number of transactions (each around 5800–6200).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text states that the overall customer activity is very close to being a perfect distribution of locations. </a:t>
            </a:r>
          </a:p>
          <a:p>
            <a:pPr marL="0" indent="0">
              <a:buNone/>
            </a:pPr>
            <a:r>
              <a:rPr lang="en-US" sz="1200" b="1" dirty="0">
                <a:latin typeface="Times New Roman" panose="02020603050405020304" pitchFamily="18" charset="0"/>
                <a:cs typeface="Times New Roman" panose="02020603050405020304" pitchFamily="18" charset="0"/>
              </a:rPr>
              <a:t>Top Fraud Counts by Location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Los Angeles, Boston, and Miami are three cities that show the most significant number of fraudulent transactions.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number of fraud cases is not that of total transactions, which tightly follow, thus suggesting that there are location-specific risk factors that cause fraud. </a:t>
            </a:r>
          </a:p>
          <a:p>
            <a:pPr marL="0" indent="0">
              <a:buNone/>
            </a:pPr>
            <a:r>
              <a:rPr lang="en-US" sz="1200" b="1" dirty="0">
                <a:latin typeface="Times New Roman" panose="02020603050405020304" pitchFamily="18" charset="0"/>
                <a:cs typeface="Times New Roman" panose="02020603050405020304" pitchFamily="18" charset="0"/>
              </a:rPr>
              <a:t>Fraud Rate (%) by Location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Chicago leads the pack with the highest fraud rate (5.5%) while Los Angeles (5.16%) follows the city closely.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Even those cities that have fewer total transactions (e.g., Seattle) are not free of fraud cases, which means fraud risk is a matter of transaction volume only.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Is a clear indication of the possible existence of different types of patterns - fraud ones that are behavioral, demographic, or regional. </a:t>
            </a:r>
          </a:p>
          <a:p>
            <a:pPr marL="0" indent="0">
              <a:buNone/>
            </a:pPr>
            <a:r>
              <a:rPr lang="en-US" sz="1200" b="1" dirty="0">
                <a:latin typeface="Times New Roman" panose="02020603050405020304" pitchFamily="18" charset="0"/>
                <a:cs typeface="Times New Roman" panose="02020603050405020304" pitchFamily="18" charset="0"/>
              </a:rPr>
              <a:t>Transaction Amount Distribution (Box Plot)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amount of transactions are quite close for all the cities.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There is no specific city that has either extremely high or low transaction amounts.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This brings us to the conclusion that fraud is not a result of the differences in transaction value across various locations. </a:t>
            </a:r>
          </a:p>
          <a:p>
            <a:pPr marL="0" indent="0">
              <a:buNone/>
            </a:pPr>
            <a:endParaRPr lang="en-US" sz="1100" b="1" dirty="0">
              <a:latin typeface="Times New Roman" panose="02020603050405020304" pitchFamily="18" charset="0"/>
              <a:cs typeface="Times New Roman" panose="02020603050405020304" pitchFamily="18" charset="0"/>
            </a:endParaRPr>
          </a:p>
        </p:txBody>
      </p:sp>
      <p:pic>
        <p:nvPicPr>
          <p:cNvPr id="5" name="Picture 4" descr="A group of different colored bars&#10;&#10;AI-generated content may be incorrect.">
            <a:extLst>
              <a:ext uri="{FF2B5EF4-FFF2-40B4-BE49-F238E27FC236}">
                <a16:creationId xmlns:a16="http://schemas.microsoft.com/office/drawing/2014/main" id="{CDFA95B0-A6FD-97D2-65F8-8F395B2FA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1124" y="1456313"/>
            <a:ext cx="5122652" cy="3625332"/>
          </a:xfrm>
          <a:prstGeom prst="rect">
            <a:avLst/>
          </a:prstGeom>
        </p:spPr>
      </p:pic>
      <p:sp>
        <p:nvSpPr>
          <p:cNvPr id="18"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498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811948-791C-369D-F40A-E1E3E015A984}"/>
              </a:ext>
            </a:extLst>
          </p:cNvPr>
          <p:cNvSpPr>
            <a:spLocks noGrp="1"/>
          </p:cNvSpPr>
          <p:nvPr>
            <p:ph type="title"/>
          </p:nvPr>
        </p:nvSpPr>
        <p:spPr>
          <a:xfrm>
            <a:off x="649224" y="645106"/>
            <a:ext cx="9704740" cy="1259894"/>
          </a:xfrm>
        </p:spPr>
        <p:txBody>
          <a:bodyPr>
            <a:normAutofit/>
          </a:bodyPr>
          <a:lstStyle/>
          <a:p>
            <a:r>
              <a:rPr lang="en-US" dirty="0">
                <a:latin typeface="Times New Roman" panose="02020603050405020304" pitchFamily="18" charset="0"/>
                <a:cs typeface="Times New Roman" panose="02020603050405020304" pitchFamily="18" charset="0"/>
              </a:rPr>
              <a:t>Correlation Analysis of Numeric Features</a:t>
            </a:r>
          </a:p>
        </p:txBody>
      </p:sp>
      <p:sp>
        <p:nvSpPr>
          <p:cNvPr id="12" name="Rectangle 11">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B9525B0-0D28-6FAD-2103-A0452A3B54FC}"/>
              </a:ext>
            </a:extLst>
          </p:cNvPr>
          <p:cNvSpPr>
            <a:spLocks noGrp="1"/>
          </p:cNvSpPr>
          <p:nvPr>
            <p:ph idx="1"/>
          </p:nvPr>
        </p:nvSpPr>
        <p:spPr>
          <a:xfrm>
            <a:off x="649225" y="1395261"/>
            <a:ext cx="5122652" cy="4968593"/>
          </a:xfrm>
        </p:spPr>
        <p:txBody>
          <a:bodyPr>
            <a:normAutofit fontScale="92500" lnSpcReduction="10000"/>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heatmap displays the correlation of the key numeric variables that were used in the fraud detection dataset. </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Each feature has very low or close to zero correlation with the other features. </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No pair of features show strong linear dependency — this implies that the dataset has low multicollinearity. Each variable can be considered as a potential source of unique, non-overlapping information for the model. </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Some of the useful features like:</a:t>
            </a:r>
          </a:p>
          <a:p>
            <a:pPr lvl="1">
              <a:lnSpc>
                <a:spcPct val="90000"/>
              </a:lnSpc>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Transaction_Amount</a:t>
            </a:r>
            <a:endParaRPr lang="en-US" sz="1400" dirty="0">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Time_of_Transaction</a:t>
            </a:r>
            <a:endParaRPr lang="en-US" sz="1400" dirty="0">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Previous_Fraudulent_Transactions</a:t>
            </a:r>
            <a:endParaRPr lang="en-US" sz="1400" dirty="0">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Account_Age</a:t>
            </a:r>
            <a:endParaRPr lang="en-US" sz="1400" dirty="0">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Transactions_Last_24H</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are all </a:t>
            </a:r>
            <a:r>
              <a:rPr lang="en-US" sz="1400" b="1" dirty="0">
                <a:latin typeface="Times New Roman" panose="02020603050405020304" pitchFamily="18" charset="0"/>
                <a:cs typeface="Times New Roman" panose="02020603050405020304" pitchFamily="18" charset="0"/>
              </a:rPr>
              <a:t>independently informative</a:t>
            </a:r>
            <a:r>
              <a:rPr lang="en-US" sz="1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Business / Modeling Insight </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 the features are not strongly interrelated, the model is able to detect different fraud patterns from each variable. This feature of the model helps to prevent redundancy and, thus, increases the model's stability and its ​‍​‌‍​‍‌​‍​‌‍​‍‌interpretability. </a:t>
            </a:r>
          </a:p>
          <a:p>
            <a:pPr>
              <a:lnSpc>
                <a:spcPct val="90000"/>
              </a:lnSpc>
            </a:pPr>
            <a:endParaRPr lang="en-US" sz="900" dirty="0"/>
          </a:p>
        </p:txBody>
      </p:sp>
      <p:pic>
        <p:nvPicPr>
          <p:cNvPr id="5" name="Picture 4" descr="A diagram of a heat map">
            <a:extLst>
              <a:ext uri="{FF2B5EF4-FFF2-40B4-BE49-F238E27FC236}">
                <a16:creationId xmlns:a16="http://schemas.microsoft.com/office/drawing/2014/main" id="{AF315DA5-51D1-C4E5-03AC-2A8299B175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080" y="1980765"/>
            <a:ext cx="5451627" cy="4497592"/>
          </a:xfrm>
          <a:prstGeom prst="rect">
            <a:avLst/>
          </a:prstGeom>
        </p:spPr>
      </p:pic>
      <p:sp>
        <p:nvSpPr>
          <p:cNvPr id="14"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8655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F71AD-FEEC-BFAA-4EBB-D64D25726F16}"/>
              </a:ext>
            </a:extLst>
          </p:cNvPr>
          <p:cNvSpPr>
            <a:spLocks noGrp="1"/>
          </p:cNvSpPr>
          <p:nvPr>
            <p:ph type="title"/>
          </p:nvPr>
        </p:nvSpPr>
        <p:spPr>
          <a:xfrm>
            <a:off x="649224" y="1376218"/>
            <a:ext cx="3784231" cy="3694545"/>
          </a:xfrm>
        </p:spPr>
        <p:txBody>
          <a:bodyPr>
            <a:normAutofit/>
          </a:bodyPr>
          <a:lstStyle/>
          <a:p>
            <a:pPr marL="285750" indent="-285750">
              <a:lnSpc>
                <a:spcPct val="9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Cleaning &amp; Preprocessing(Part 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Cleaning Steps: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1. Checked missing values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2. Verified datatypes for  each feature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3. Removed inconsistent entries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4. Standardized formats for     categorical fields</a:t>
            </a:r>
            <a:br>
              <a:rPr lang="en-US" sz="1800"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Content Placeholder 2">
            <a:extLst>
              <a:ext uri="{FF2B5EF4-FFF2-40B4-BE49-F238E27FC236}">
                <a16:creationId xmlns:a16="http://schemas.microsoft.com/office/drawing/2014/main" id="{C5F61F80-A0CB-7A9E-4773-8F16B702E36A}"/>
              </a:ext>
            </a:extLst>
          </p:cNvPr>
          <p:cNvSpPr>
            <a:spLocks noGrp="1"/>
          </p:cNvSpPr>
          <p:nvPr>
            <p:ph idx="1"/>
          </p:nvPr>
        </p:nvSpPr>
        <p:spPr>
          <a:xfrm>
            <a:off x="4962458" y="1174817"/>
            <a:ext cx="5122652" cy="4496310"/>
          </a:xfrm>
        </p:spPr>
        <p:txBody>
          <a:bodyPr>
            <a:normAutofit/>
          </a:bodyPr>
          <a:lstStyle/>
          <a:p>
            <a:pPr marL="0" indent="0">
              <a:lnSpc>
                <a:spcPct val="90000"/>
              </a:lnSpc>
              <a:buNone/>
            </a:pPr>
            <a:r>
              <a:rPr lang="en-US" b="1" dirty="0">
                <a:latin typeface="Times New Roman" panose="02020603050405020304" pitchFamily="18" charset="0"/>
                <a:cs typeface="Times New Roman" panose="02020603050405020304" pitchFamily="18" charset="0"/>
              </a:rPr>
              <a:t>Data Cleaning &amp; Preprocessing (Part 2)</a:t>
            </a:r>
          </a:p>
          <a:p>
            <a:pPr>
              <a:lnSpc>
                <a:spcPct val="90000"/>
              </a:lnSpc>
            </a:pPr>
            <a:endParaRPr lang="en-US" dirty="0">
              <a:latin typeface="Times New Roman" panose="02020603050405020304" pitchFamily="18" charset="0"/>
              <a:cs typeface="Times New Roman" panose="02020603050405020304" pitchFamily="18" charset="0"/>
            </a:endParaRPr>
          </a:p>
          <a:p>
            <a:pPr marL="0" indent="0">
              <a:lnSpc>
                <a:spcPct val="90000"/>
              </a:lnSpc>
              <a:buNone/>
            </a:pPr>
            <a:r>
              <a:rPr lang="en-US" b="1" dirty="0">
                <a:latin typeface="Times New Roman" panose="02020603050405020304" pitchFamily="18" charset="0"/>
                <a:cs typeface="Times New Roman" panose="02020603050405020304" pitchFamily="18" charset="0"/>
              </a:rPr>
              <a:t>Preprocessing Steps:</a:t>
            </a:r>
            <a:endParaRPr lang="en-US"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One-hot encoding for:</a:t>
            </a:r>
          </a:p>
          <a:p>
            <a:pPr lvl="1">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Transaction Type</a:t>
            </a:r>
          </a:p>
          <a:p>
            <a:pPr lvl="1">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Device Used</a:t>
            </a:r>
          </a:p>
          <a:p>
            <a:pPr lvl="1">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Payment Method</a:t>
            </a:r>
          </a:p>
          <a:p>
            <a:pPr>
              <a:lnSpc>
                <a:spcPct val="9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Engineered new feature:</a:t>
            </a:r>
          </a:p>
          <a:p>
            <a:pPr lvl="1">
              <a:lnSpc>
                <a:spcPct val="90000"/>
              </a:lnSpc>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Hours_Since_Last_Transaction</a:t>
            </a:r>
            <a:endParaRPr lang="en-US" sz="1800" dirty="0">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Train–test split applied</a:t>
            </a:r>
          </a:p>
          <a:p>
            <a:pPr lvl="1">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Threshold tuning instead of oversampling</a:t>
            </a:r>
          </a:p>
          <a:p>
            <a:pPr marL="0" indent="0">
              <a:lnSpc>
                <a:spcPct val="90000"/>
              </a:lnSpc>
              <a:buNone/>
            </a:pPr>
            <a:endParaRPr lang="en-US" dirty="0"/>
          </a:p>
        </p:txBody>
      </p:sp>
      <p:pic>
        <p:nvPicPr>
          <p:cNvPr id="54" name="Graphic 53" descr="Mop and bucket">
            <a:extLst>
              <a:ext uri="{FF2B5EF4-FFF2-40B4-BE49-F238E27FC236}">
                <a16:creationId xmlns:a16="http://schemas.microsoft.com/office/drawing/2014/main" id="{F9CFA807-42F0-79FF-4BB0-D3C74B2EBB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45600" y="5322842"/>
            <a:ext cx="1244658" cy="1244658"/>
          </a:xfrm>
          <a:prstGeom prst="rect">
            <a:avLst/>
          </a:prstGeom>
        </p:spPr>
      </p:pic>
      <p:sp>
        <p:nvSpPr>
          <p:cNvPr id="61"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281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C471E9-241F-828F-23CD-F31CFC978787}"/>
              </a:ext>
            </a:extLst>
          </p:cNvPr>
          <p:cNvSpPr>
            <a:spLocks noGrp="1"/>
          </p:cNvSpPr>
          <p:nvPr>
            <p:ph type="title"/>
          </p:nvPr>
        </p:nvSpPr>
        <p:spPr>
          <a:xfrm>
            <a:off x="649224" y="645106"/>
            <a:ext cx="5122652" cy="1259894"/>
          </a:xfrm>
        </p:spPr>
        <p:txBody>
          <a:bodyPr>
            <a:normAutofit/>
          </a:bodyPr>
          <a:lstStyle/>
          <a:p>
            <a:pPr>
              <a:lnSpc>
                <a:spcPct val="90000"/>
              </a:lnSpc>
            </a:pPr>
            <a:r>
              <a:rPr lang="en-US" sz="2800" dirty="0">
                <a:latin typeface="Times New Roman" panose="02020603050405020304" pitchFamily="18" charset="0"/>
                <a:cs typeface="Times New Roman" panose="02020603050405020304" pitchFamily="18" charset="0"/>
              </a:rPr>
              <a:t>Mutual Information Ranking of Important Features</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Rectangle 1">
            <a:extLst>
              <a:ext uri="{FF2B5EF4-FFF2-40B4-BE49-F238E27FC236}">
                <a16:creationId xmlns:a16="http://schemas.microsoft.com/office/drawing/2014/main" id="{DB932E27-7A90-3F4A-E708-0A2F2EE1FC96}"/>
              </a:ext>
            </a:extLst>
          </p:cNvPr>
          <p:cNvSpPr>
            <a:spLocks noGrp="1" noChangeArrowheads="1"/>
          </p:cNvSpPr>
          <p:nvPr>
            <p:ph idx="1"/>
          </p:nvPr>
        </p:nvSpPr>
        <p:spPr bwMode="auto">
          <a:xfrm>
            <a:off x="649225" y="2133600"/>
            <a:ext cx="5122652" cy="375925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20000"/>
          </a:bodyPr>
          <a:lstStyle/>
          <a:p>
            <a:pPr marL="0" lvl="0" indent="0" defTabSz="914400" eaLnBrk="0" fontAlgn="base" hangingPunct="0">
              <a:lnSpc>
                <a:spcPct val="90000"/>
              </a:lnSpc>
              <a:spcBef>
                <a:spcPct val="0"/>
              </a:spcBef>
              <a:spcAft>
                <a:spcPts val="600"/>
              </a:spcAft>
              <a:buClrTx/>
              <a:buFontTx/>
              <a:buChar char="•"/>
            </a:pPr>
            <a:r>
              <a:rPr lang="en-US" dirty="0">
                <a:latin typeface="Times New Roman" panose="02020603050405020304" pitchFamily="18" charset="0"/>
                <a:cs typeface="Times New Roman" panose="02020603050405020304" pitchFamily="18" charset="0"/>
              </a:rPr>
              <a:t>Mutual​‍​‌‍​‍‌​‍​‌‍​‍‌ Information was the method that was employed to assess the extent of association between each feature and fraudulent behavior. </a:t>
            </a:r>
          </a:p>
          <a:p>
            <a:pPr marL="0" lvl="0" indent="0" defTabSz="914400" eaLnBrk="0" fontAlgn="base" hangingPunct="0">
              <a:lnSpc>
                <a:spcPct val="90000"/>
              </a:lnSpc>
              <a:spcBef>
                <a:spcPct val="0"/>
              </a:spcBef>
              <a:spcAft>
                <a:spcPts val="600"/>
              </a:spcAft>
              <a:buClrTx/>
              <a:buFontTx/>
              <a:buChar char="•"/>
            </a:pPr>
            <a:r>
              <a:rPr lang="en-US" dirty="0">
                <a:latin typeface="Times New Roman" panose="02020603050405020304" pitchFamily="18" charset="0"/>
                <a:cs typeface="Times New Roman" panose="02020603050405020304" pitchFamily="18" charset="0"/>
              </a:rPr>
              <a:t>The device-related variables (Tablet, Mobile, Unknown Device) have been demonstrated to possess a high predictive power for the detection of fraud. </a:t>
            </a:r>
          </a:p>
          <a:p>
            <a:pPr marL="0" lvl="0" indent="0" defTabSz="914400" eaLnBrk="0" fontAlgn="base" hangingPunct="0">
              <a:lnSpc>
                <a:spcPct val="90000"/>
              </a:lnSpc>
              <a:spcBef>
                <a:spcPct val="0"/>
              </a:spcBef>
              <a:spcAft>
                <a:spcPts val="600"/>
              </a:spcAft>
              <a:buClrTx/>
              <a:buFontTx/>
              <a:buChar char="•"/>
            </a:pPr>
            <a:r>
              <a:rPr lang="en-US" dirty="0">
                <a:latin typeface="Times New Roman" panose="02020603050405020304" pitchFamily="18" charset="0"/>
                <a:cs typeface="Times New Roman" panose="02020603050405020304" pitchFamily="18" charset="0"/>
              </a:rPr>
              <a:t>In addition, the transaction type categories, e.g., Bill Payment, POS Payment, Online Purchase, and Bank Transfer, also have a significant contribution.</a:t>
            </a:r>
          </a:p>
          <a:p>
            <a:pPr marL="0" lvl="0" indent="0" defTabSz="914400" eaLnBrk="0" fontAlgn="base" hangingPunct="0">
              <a:lnSpc>
                <a:spcPct val="90000"/>
              </a:lnSpc>
              <a:spcBef>
                <a:spcPct val="0"/>
              </a:spcBef>
              <a:spcAft>
                <a:spcPts val="600"/>
              </a:spcAft>
              <a:buClrTx/>
              <a:buFontTx/>
              <a:buChar char="•"/>
            </a:pPr>
            <a:r>
              <a:rPr lang="en-US" dirty="0">
                <a:latin typeface="Times New Roman" panose="02020603050405020304" pitchFamily="18" charset="0"/>
                <a:cs typeface="Times New Roman" panose="02020603050405020304" pitchFamily="18" charset="0"/>
              </a:rPr>
              <a:t> Furthermore, the behavioral indicators like Number_of_Transactions_Last_24H and </a:t>
            </a:r>
            <a:r>
              <a:rPr lang="en-US" dirty="0" err="1">
                <a:latin typeface="Times New Roman" panose="02020603050405020304" pitchFamily="18" charset="0"/>
                <a:cs typeface="Times New Roman" panose="02020603050405020304" pitchFamily="18" charset="0"/>
              </a:rPr>
              <a:t>Hours_Since_Last_Transaction</a:t>
            </a:r>
            <a:r>
              <a:rPr lang="en-US" dirty="0">
                <a:latin typeface="Times New Roman" panose="02020603050405020304" pitchFamily="18" charset="0"/>
                <a:cs typeface="Times New Roman" panose="02020603050405020304" pitchFamily="18" charset="0"/>
              </a:rPr>
              <a:t> are two examples of fraud-detection methods that can be used to acquire additional value. </a:t>
            </a:r>
          </a:p>
          <a:p>
            <a:pPr marL="0" lvl="0" indent="0" defTabSz="914400" eaLnBrk="0" fontAlgn="base" hangingPunct="0">
              <a:lnSpc>
                <a:spcPct val="90000"/>
              </a:lnSpc>
              <a:spcBef>
                <a:spcPct val="0"/>
              </a:spcBef>
              <a:spcAft>
                <a:spcPts val="600"/>
              </a:spcAft>
              <a:buClrTx/>
              <a:buFontTx/>
              <a:buChar char="•"/>
            </a:pPr>
            <a:r>
              <a:rPr lang="en-US" dirty="0">
                <a:latin typeface="Times New Roman" panose="02020603050405020304" pitchFamily="18" charset="0"/>
                <a:cs typeface="Times New Roman" panose="02020603050405020304" pitchFamily="18" charset="0"/>
              </a:rPr>
              <a:t>These non-zero MI features were chosen for modeling because they are able to capture significant patterns of fraud in the ​‍​‌‍​‍‌​‍​‌‍​‍‌transactions. </a:t>
            </a: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6" name="Picture 5" descr="A graph showing a number of different colored bars&#10;&#10;AI-generated content may be incorrect.">
            <a:extLst>
              <a:ext uri="{FF2B5EF4-FFF2-40B4-BE49-F238E27FC236}">
                <a16:creationId xmlns:a16="http://schemas.microsoft.com/office/drawing/2014/main" id="{D722776A-05E3-4316-BC28-A36C4A1FA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1916" y="729672"/>
            <a:ext cx="5451627" cy="4562763"/>
          </a:xfrm>
          <a:prstGeom prst="rect">
            <a:avLst/>
          </a:prstGeom>
        </p:spPr>
      </p:pic>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6106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CC88EE-52BB-2DEA-4DDC-18AA01DAA080}"/>
              </a:ext>
            </a:extLst>
          </p:cNvPr>
          <p:cNvSpPr>
            <a:spLocks noGrp="1"/>
          </p:cNvSpPr>
          <p:nvPr>
            <p:ph type="title"/>
          </p:nvPr>
        </p:nvSpPr>
        <p:spPr>
          <a:xfrm>
            <a:off x="649224" y="645106"/>
            <a:ext cx="6574536" cy="1259894"/>
          </a:xfrm>
        </p:spPr>
        <p:txBody>
          <a:bodyPr>
            <a:normAutofit/>
          </a:bodyPr>
          <a:lstStyle/>
          <a:p>
            <a:r>
              <a:rPr lang="en-US" dirty="0">
                <a:latin typeface="Times New Roman" panose="02020603050405020304" pitchFamily="18" charset="0"/>
                <a:cs typeface="Times New Roman" panose="02020603050405020304" pitchFamily="18" charset="0"/>
              </a:rPr>
              <a:t>Model Training and Prediction</a:t>
            </a:r>
          </a:p>
        </p:txBody>
      </p:sp>
      <p:sp>
        <p:nvSpPr>
          <p:cNvPr id="29" name="Rectangle 28">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Content Placeholder 2">
            <a:extLst>
              <a:ext uri="{FF2B5EF4-FFF2-40B4-BE49-F238E27FC236}">
                <a16:creationId xmlns:a16="http://schemas.microsoft.com/office/drawing/2014/main" id="{A9C99D48-67C1-A0D1-7A09-F9873CAE0129}"/>
              </a:ext>
            </a:extLst>
          </p:cNvPr>
          <p:cNvSpPr>
            <a:spLocks noGrp="1"/>
          </p:cNvSpPr>
          <p:nvPr>
            <p:ph idx="1"/>
          </p:nvPr>
        </p:nvSpPr>
        <p:spPr>
          <a:xfrm>
            <a:off x="649224" y="2133600"/>
            <a:ext cx="9704740" cy="3537527"/>
          </a:xfrm>
        </p:spPr>
        <p:txBody>
          <a:bodyPr>
            <a:normAutofit/>
          </a:bodyPr>
          <a:lstStyle/>
          <a:p>
            <a:pPr marL="0" indent="0">
              <a:lnSpc>
                <a:spcPct val="90000"/>
              </a:lnSpc>
              <a:buNone/>
            </a:pPr>
            <a:r>
              <a:rPr lang="en-US" sz="1200" b="1" dirty="0">
                <a:latin typeface="Times New Roman" panose="02020603050405020304" pitchFamily="18" charset="0"/>
                <a:cs typeface="Times New Roman" panose="02020603050405020304" pitchFamily="18" charset="0"/>
              </a:rPr>
              <a:t>Model Training Process</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Four supervised learning models were trained: Logistic Regression, Decision Tree, Random Forest, </a:t>
            </a:r>
            <a:r>
              <a:rPr lang="en-US" sz="1200" dirty="0" err="1">
                <a:latin typeface="Times New Roman" panose="02020603050405020304" pitchFamily="18" charset="0"/>
                <a:cs typeface="Times New Roman" panose="02020603050405020304" pitchFamily="18" charset="0"/>
              </a:rPr>
              <a:t>XGBoost</a:t>
            </a:r>
            <a:endParaRPr lang="en-US" sz="12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 used was preprocessed with categorical variables encoded and behavioral features created</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Training and validation sets were made to keep the class distribution</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Fraud detection recall was improved by probability threshold tuning (from 0.50 → 0.20)</a:t>
            </a:r>
          </a:p>
          <a:p>
            <a:pPr>
              <a:lnSpc>
                <a:spcPct val="90000"/>
              </a:lnSpc>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0" indent="0">
              <a:lnSpc>
                <a:spcPct val="90000"/>
              </a:lnSpc>
              <a:buNone/>
            </a:pPr>
            <a:r>
              <a:rPr lang="en-US" sz="1200" b="1" dirty="0">
                <a:latin typeface="Times New Roman" panose="02020603050405020304" pitchFamily="18" charset="0"/>
                <a:cs typeface="Times New Roman" panose="02020603050405020304" pitchFamily="18" charset="0"/>
              </a:rPr>
              <a:t>Prediction Workflow </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Probability scores for fraud likelihood were produced by each model</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Predictions were evaluated with key metrics: Accuracy, Precision, Recall, F1-Score, ROC–AUC</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By using a lower threshold (0.20) the models were able to identify more fraud case</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final predictions demonstrated that </a:t>
            </a:r>
            <a:r>
              <a:rPr lang="en-US" sz="1200" dirty="0" err="1">
                <a:latin typeface="Times New Roman" panose="02020603050405020304" pitchFamily="18" charset="0"/>
                <a:cs typeface="Times New Roman" panose="02020603050405020304" pitchFamily="18" charset="0"/>
              </a:rPr>
              <a:t>XGBoost</a:t>
            </a:r>
            <a:r>
              <a:rPr lang="en-US" sz="1200" dirty="0">
                <a:latin typeface="Times New Roman" panose="02020603050405020304" pitchFamily="18" charset="0"/>
                <a:cs typeface="Times New Roman" panose="02020603050405020304" pitchFamily="18" charset="0"/>
              </a:rPr>
              <a:t> was the best performing method in the case of fraudulent transaction ​‍​‌‍​‍‌​‍​‌‍​‍‌identification</a:t>
            </a:r>
            <a:r>
              <a:rPr lang="en-US" sz="1100" dirty="0">
                <a:latin typeface="Times New Roman" panose="02020603050405020304" pitchFamily="18" charset="0"/>
                <a:cs typeface="Times New Roman" panose="02020603050405020304" pitchFamily="18" charset="0"/>
              </a:rPr>
              <a:t>.</a:t>
            </a:r>
          </a:p>
        </p:txBody>
      </p:sp>
      <p:pic>
        <p:nvPicPr>
          <p:cNvPr id="17" name="Graphic 16" descr="Rat">
            <a:extLst>
              <a:ext uri="{FF2B5EF4-FFF2-40B4-BE49-F238E27FC236}">
                <a16:creationId xmlns:a16="http://schemas.microsoft.com/office/drawing/2014/main" id="{A672C663-D790-1D3B-9B6E-3282996337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57309" y="5237019"/>
            <a:ext cx="2491907" cy="1700418"/>
          </a:xfrm>
          <a:prstGeom prst="rect">
            <a:avLst/>
          </a:prstGeom>
        </p:spPr>
      </p:pic>
      <p:sp>
        <p:nvSpPr>
          <p:cNvPr id="30"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612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191B0A-CB99-E0F1-4717-9FB3CBCDA33D}"/>
              </a:ext>
            </a:extLst>
          </p:cNvPr>
          <p:cNvSpPr>
            <a:spLocks noGrp="1"/>
          </p:cNvSpPr>
          <p:nvPr>
            <p:ph type="title"/>
          </p:nvPr>
        </p:nvSpPr>
        <p:spPr>
          <a:xfrm>
            <a:off x="1046019" y="120074"/>
            <a:ext cx="3256550" cy="5791148"/>
          </a:xfrm>
        </p:spPr>
        <p:txBody>
          <a:bodyPr anchor="ctr">
            <a:normAutofit/>
          </a:bodyPr>
          <a:lstStyle/>
          <a:p>
            <a:pPr>
              <a:lnSpc>
                <a:spcPct val="90000"/>
              </a:lnSpc>
            </a:pPr>
            <a:r>
              <a:rPr lang="en-US" sz="1700" b="1" dirty="0">
                <a:solidFill>
                  <a:schemeClr val="tx2">
                    <a:lumMod val="75000"/>
                  </a:schemeClr>
                </a:solidFill>
              </a:rPr>
              <a:t>Model Evaluation</a:t>
            </a:r>
            <a:br>
              <a:rPr lang="en-US" sz="1700" b="1" dirty="0">
                <a:solidFill>
                  <a:schemeClr val="tx2">
                    <a:lumMod val="75000"/>
                  </a:schemeClr>
                </a:solidFill>
              </a:rPr>
            </a:br>
            <a:br>
              <a:rPr lang="en-US" sz="1700" b="1" dirty="0">
                <a:solidFill>
                  <a:schemeClr val="tx2">
                    <a:lumMod val="75000"/>
                  </a:schemeClr>
                </a:solidFill>
                <a:latin typeface="Times New Roman" panose="02020603050405020304" pitchFamily="18" charset="0"/>
                <a:cs typeface="Times New Roman" panose="02020603050405020304" pitchFamily="18" charset="0"/>
              </a:rPr>
            </a:br>
            <a:br>
              <a:rPr lang="en-US" sz="1700" dirty="0">
                <a:solidFill>
                  <a:schemeClr val="tx2">
                    <a:lumMod val="75000"/>
                  </a:schemeClr>
                </a:solidFill>
                <a:latin typeface="Times New Roman" panose="02020603050405020304" pitchFamily="18" charset="0"/>
                <a:cs typeface="Times New Roman" panose="02020603050405020304" pitchFamily="18" charset="0"/>
              </a:rPr>
            </a:br>
            <a:r>
              <a:rPr lang="en-US" sz="1700" b="1" dirty="0" err="1">
                <a:solidFill>
                  <a:schemeClr val="tx2">
                    <a:lumMod val="75000"/>
                  </a:schemeClr>
                </a:solidFill>
                <a:latin typeface="Times New Roman" panose="02020603050405020304" pitchFamily="18" charset="0"/>
                <a:cs typeface="Times New Roman" panose="02020603050405020304" pitchFamily="18" charset="0"/>
              </a:rPr>
              <a:t>Evaluation</a:t>
            </a:r>
            <a:r>
              <a:rPr lang="en-US" sz="1700" b="1" dirty="0">
                <a:solidFill>
                  <a:schemeClr val="tx2">
                    <a:lumMod val="75000"/>
                  </a:schemeClr>
                </a:solidFill>
                <a:latin typeface="Times New Roman" panose="02020603050405020304" pitchFamily="18" charset="0"/>
                <a:cs typeface="Times New Roman" panose="02020603050405020304" pitchFamily="18" charset="0"/>
              </a:rPr>
              <a:t> Metrics Used</a:t>
            </a:r>
            <a:br>
              <a:rPr lang="en-US" sz="1700" b="1" dirty="0">
                <a:solidFill>
                  <a:schemeClr val="tx2">
                    <a:lumMod val="75000"/>
                  </a:schemeClr>
                </a:solidFill>
                <a:latin typeface="Times New Roman" panose="02020603050405020304" pitchFamily="18" charset="0"/>
                <a:cs typeface="Times New Roman" panose="02020603050405020304" pitchFamily="18" charset="0"/>
              </a:rPr>
            </a:br>
            <a:br>
              <a:rPr lang="en-US" sz="1700" b="1" dirty="0">
                <a:solidFill>
                  <a:schemeClr val="tx2">
                    <a:lumMod val="75000"/>
                  </a:schemeClr>
                </a:solidFill>
                <a:latin typeface="Times New Roman" panose="02020603050405020304" pitchFamily="18" charset="0"/>
                <a:cs typeface="Times New Roman" panose="02020603050405020304" pitchFamily="18" charset="0"/>
              </a:rPr>
            </a:br>
            <a:r>
              <a:rPr lang="en-US" sz="1700" b="1" dirty="0">
                <a:solidFill>
                  <a:schemeClr val="tx2">
                    <a:lumMod val="75000"/>
                  </a:schemeClr>
                </a:solidFill>
                <a:latin typeface="Times New Roman" panose="02020603050405020304" pitchFamily="18" charset="0"/>
                <a:cs typeface="Times New Roman" panose="02020603050405020304" pitchFamily="18" charset="0"/>
              </a:rPr>
              <a:t>Accuracy</a:t>
            </a:r>
            <a:r>
              <a:rPr lang="en-US" sz="1700" dirty="0">
                <a:solidFill>
                  <a:schemeClr val="tx2">
                    <a:lumMod val="75000"/>
                  </a:schemeClr>
                </a:solidFill>
                <a:latin typeface="Times New Roman" panose="02020603050405020304" pitchFamily="18" charset="0"/>
                <a:cs typeface="Times New Roman" panose="02020603050405020304" pitchFamily="18" charset="0"/>
              </a:rPr>
              <a:t> – overall correctness</a:t>
            </a:r>
            <a:br>
              <a:rPr lang="en-US" sz="1700" dirty="0">
                <a:solidFill>
                  <a:schemeClr val="tx2">
                    <a:lumMod val="75000"/>
                  </a:schemeClr>
                </a:solidFill>
                <a:latin typeface="Times New Roman" panose="02020603050405020304" pitchFamily="18" charset="0"/>
                <a:cs typeface="Times New Roman" panose="02020603050405020304" pitchFamily="18" charset="0"/>
              </a:rPr>
            </a:br>
            <a:r>
              <a:rPr lang="en-US" sz="1700" b="1" dirty="0">
                <a:solidFill>
                  <a:schemeClr val="tx2">
                    <a:lumMod val="75000"/>
                  </a:schemeClr>
                </a:solidFill>
                <a:latin typeface="Times New Roman" panose="02020603050405020304" pitchFamily="18" charset="0"/>
                <a:cs typeface="Times New Roman" panose="02020603050405020304" pitchFamily="18" charset="0"/>
              </a:rPr>
              <a:t>Precision</a:t>
            </a:r>
            <a:r>
              <a:rPr lang="en-US" sz="1700" dirty="0">
                <a:solidFill>
                  <a:schemeClr val="tx2">
                    <a:lumMod val="75000"/>
                  </a:schemeClr>
                </a:solidFill>
                <a:latin typeface="Times New Roman" panose="02020603050405020304" pitchFamily="18" charset="0"/>
                <a:cs typeface="Times New Roman" panose="02020603050405020304" pitchFamily="18" charset="0"/>
              </a:rPr>
              <a:t> – correctness of fraud predictions</a:t>
            </a:r>
            <a:br>
              <a:rPr lang="en-US" sz="1700" dirty="0">
                <a:solidFill>
                  <a:schemeClr val="tx2">
                    <a:lumMod val="75000"/>
                  </a:schemeClr>
                </a:solidFill>
                <a:latin typeface="Times New Roman" panose="02020603050405020304" pitchFamily="18" charset="0"/>
                <a:cs typeface="Times New Roman" panose="02020603050405020304" pitchFamily="18" charset="0"/>
              </a:rPr>
            </a:br>
            <a:r>
              <a:rPr lang="en-US" sz="1700" b="1" dirty="0">
                <a:solidFill>
                  <a:schemeClr val="tx2">
                    <a:lumMod val="75000"/>
                  </a:schemeClr>
                </a:solidFill>
                <a:latin typeface="Times New Roman" panose="02020603050405020304" pitchFamily="18" charset="0"/>
                <a:cs typeface="Times New Roman" panose="02020603050405020304" pitchFamily="18" charset="0"/>
              </a:rPr>
              <a:t>Recall</a:t>
            </a:r>
            <a:r>
              <a:rPr lang="en-US" sz="1700" dirty="0">
                <a:solidFill>
                  <a:schemeClr val="tx2">
                    <a:lumMod val="75000"/>
                  </a:schemeClr>
                </a:solidFill>
                <a:latin typeface="Times New Roman" panose="02020603050405020304" pitchFamily="18" charset="0"/>
                <a:cs typeface="Times New Roman" panose="02020603050405020304" pitchFamily="18" charset="0"/>
              </a:rPr>
              <a:t> – ability to catch actual fraud cases (most important metric)</a:t>
            </a:r>
            <a:br>
              <a:rPr lang="en-US" sz="1700" dirty="0">
                <a:solidFill>
                  <a:schemeClr val="tx2">
                    <a:lumMod val="75000"/>
                  </a:schemeClr>
                </a:solidFill>
                <a:latin typeface="Times New Roman" panose="02020603050405020304" pitchFamily="18" charset="0"/>
                <a:cs typeface="Times New Roman" panose="02020603050405020304" pitchFamily="18" charset="0"/>
              </a:rPr>
            </a:br>
            <a:r>
              <a:rPr lang="en-US" sz="1700" b="1" dirty="0">
                <a:solidFill>
                  <a:schemeClr val="tx2">
                    <a:lumMod val="75000"/>
                  </a:schemeClr>
                </a:solidFill>
                <a:latin typeface="Times New Roman" panose="02020603050405020304" pitchFamily="18" charset="0"/>
                <a:cs typeface="Times New Roman" panose="02020603050405020304" pitchFamily="18" charset="0"/>
              </a:rPr>
              <a:t>F1-Score</a:t>
            </a:r>
            <a:r>
              <a:rPr lang="en-US" sz="1700" dirty="0">
                <a:solidFill>
                  <a:schemeClr val="tx2">
                    <a:lumMod val="75000"/>
                  </a:schemeClr>
                </a:solidFill>
                <a:latin typeface="Times New Roman" panose="02020603050405020304" pitchFamily="18" charset="0"/>
                <a:cs typeface="Times New Roman" panose="02020603050405020304" pitchFamily="18" charset="0"/>
              </a:rPr>
              <a:t> – balance between precision and recall</a:t>
            </a:r>
            <a:br>
              <a:rPr lang="en-US" sz="1700" dirty="0">
                <a:solidFill>
                  <a:schemeClr val="tx2">
                    <a:lumMod val="75000"/>
                  </a:schemeClr>
                </a:solidFill>
                <a:latin typeface="Times New Roman" panose="02020603050405020304" pitchFamily="18" charset="0"/>
                <a:cs typeface="Times New Roman" panose="02020603050405020304" pitchFamily="18" charset="0"/>
              </a:rPr>
            </a:br>
            <a:r>
              <a:rPr lang="en-US" sz="1700" b="1" dirty="0">
                <a:solidFill>
                  <a:schemeClr val="tx2">
                    <a:lumMod val="75000"/>
                  </a:schemeClr>
                </a:solidFill>
                <a:latin typeface="Times New Roman" panose="02020603050405020304" pitchFamily="18" charset="0"/>
                <a:cs typeface="Times New Roman" panose="02020603050405020304" pitchFamily="18" charset="0"/>
              </a:rPr>
              <a:t>ROC–AUC</a:t>
            </a:r>
            <a:r>
              <a:rPr lang="en-US" sz="1700" dirty="0">
                <a:solidFill>
                  <a:schemeClr val="tx2">
                    <a:lumMod val="75000"/>
                  </a:schemeClr>
                </a:solidFill>
                <a:latin typeface="Times New Roman" panose="02020603050405020304" pitchFamily="18" charset="0"/>
                <a:cs typeface="Times New Roman" panose="02020603050405020304" pitchFamily="18" charset="0"/>
              </a:rPr>
              <a:t> – discrimination ability between fraud &amp; non-fraud</a:t>
            </a:r>
            <a:br>
              <a:rPr lang="en-US" sz="1700" dirty="0">
                <a:solidFill>
                  <a:schemeClr val="tx2">
                    <a:lumMod val="75000"/>
                  </a:schemeClr>
                </a:solidFill>
                <a:latin typeface="Times New Roman" panose="02020603050405020304" pitchFamily="18" charset="0"/>
                <a:cs typeface="Times New Roman" panose="02020603050405020304" pitchFamily="18" charset="0"/>
              </a:rPr>
            </a:br>
            <a:r>
              <a:rPr lang="en-US" sz="1700" b="1" dirty="0">
                <a:solidFill>
                  <a:schemeClr val="tx2">
                    <a:lumMod val="75000"/>
                  </a:schemeClr>
                </a:solidFill>
                <a:latin typeface="Times New Roman" panose="02020603050405020304" pitchFamily="18" charset="0"/>
                <a:cs typeface="Times New Roman" panose="02020603050405020304" pitchFamily="18" charset="0"/>
              </a:rPr>
              <a:t>Confusion Matrix</a:t>
            </a:r>
            <a:r>
              <a:rPr lang="en-US" sz="1700" dirty="0">
                <a:solidFill>
                  <a:schemeClr val="tx2">
                    <a:lumMod val="75000"/>
                  </a:schemeClr>
                </a:solidFill>
                <a:latin typeface="Times New Roman" panose="02020603050405020304" pitchFamily="18" charset="0"/>
                <a:cs typeface="Times New Roman" panose="02020603050405020304" pitchFamily="18" charset="0"/>
              </a:rPr>
              <a:t> – prediction breakdown per model</a:t>
            </a:r>
            <a:br>
              <a:rPr lang="en-US" sz="1700" dirty="0">
                <a:solidFill>
                  <a:schemeClr val="tx2">
                    <a:lumMod val="75000"/>
                  </a:schemeClr>
                </a:solidFill>
                <a:latin typeface="Times New Roman" panose="02020603050405020304" pitchFamily="18" charset="0"/>
                <a:cs typeface="Times New Roman" panose="02020603050405020304" pitchFamily="18" charset="0"/>
              </a:rPr>
            </a:br>
            <a:endParaRPr lang="en-US" sz="17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6"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5"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6"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3" name="Content Placeholder 2">
            <a:extLst>
              <a:ext uri="{FF2B5EF4-FFF2-40B4-BE49-F238E27FC236}">
                <a16:creationId xmlns:a16="http://schemas.microsoft.com/office/drawing/2014/main" id="{0D844A88-0D05-5F57-4AB7-C1F281653F0E}"/>
              </a:ext>
            </a:extLst>
          </p:cNvPr>
          <p:cNvSpPr>
            <a:spLocks noGrp="1"/>
          </p:cNvSpPr>
          <p:nvPr>
            <p:ph idx="1"/>
          </p:nvPr>
        </p:nvSpPr>
        <p:spPr>
          <a:xfrm>
            <a:off x="5030936" y="1250561"/>
            <a:ext cx="6455549" cy="5165938"/>
          </a:xfrm>
        </p:spPr>
        <p:txBody>
          <a:bodyPr anchor="ctr">
            <a:normAutofit/>
          </a:bodyPr>
          <a:lstStyle/>
          <a:p>
            <a:pPr marL="0" indent="0">
              <a:lnSpc>
                <a:spcPct val="90000"/>
              </a:lnSpc>
              <a:buNone/>
            </a:pPr>
            <a:r>
              <a:rPr lang="en-US" sz="1400" b="1" dirty="0">
                <a:solidFill>
                  <a:schemeClr val="tx2">
                    <a:lumMod val="75000"/>
                  </a:schemeClr>
                </a:solidFill>
                <a:latin typeface="Times New Roman" panose="02020603050405020304" pitchFamily="18" charset="0"/>
                <a:cs typeface="Times New Roman" panose="02020603050405020304" pitchFamily="18" charset="0"/>
              </a:rPr>
              <a:t>Model Performance Comparison </a:t>
            </a:r>
          </a:p>
          <a:p>
            <a:pPr marL="0" indent="0">
              <a:lnSpc>
                <a:spcPct val="90000"/>
              </a:lnSpc>
              <a:buNone/>
            </a:pPr>
            <a:r>
              <a:rPr lang="en-US" sz="1400" b="1" dirty="0">
                <a:solidFill>
                  <a:schemeClr val="tx2">
                    <a:lumMod val="75000"/>
                  </a:schemeClr>
                </a:solidFill>
                <a:latin typeface="Times New Roman" panose="02020603050405020304" pitchFamily="18" charset="0"/>
                <a:cs typeface="Times New Roman" panose="02020603050405020304" pitchFamily="18" charset="0"/>
              </a:rPr>
              <a:t>Key Findings</a:t>
            </a:r>
          </a:p>
          <a:p>
            <a:pPr marL="0" indent="0">
              <a:lnSpc>
                <a:spcPct val="90000"/>
              </a:lnSpc>
              <a:buNone/>
            </a:pPr>
            <a:r>
              <a:rPr lang="en-US" sz="1400" b="1" dirty="0" err="1">
                <a:solidFill>
                  <a:schemeClr val="tx2">
                    <a:lumMod val="75000"/>
                  </a:schemeClr>
                </a:solidFill>
                <a:latin typeface="Times New Roman" panose="02020603050405020304" pitchFamily="18" charset="0"/>
                <a:cs typeface="Times New Roman" panose="02020603050405020304" pitchFamily="18" charset="0"/>
              </a:rPr>
              <a:t>XGBoost</a:t>
            </a:r>
            <a:r>
              <a:rPr lang="en-US" sz="1400" b="1" dirty="0">
                <a:solidFill>
                  <a:schemeClr val="tx2">
                    <a:lumMod val="75000"/>
                  </a:schemeClr>
                </a:solidFill>
                <a:latin typeface="Times New Roman" panose="02020603050405020304" pitchFamily="18" charset="0"/>
                <a:cs typeface="Times New Roman" panose="02020603050405020304" pitchFamily="18" charset="0"/>
              </a:rPr>
              <a:t> achieved the highest F1 Score (0.3673)</a:t>
            </a:r>
            <a:endParaRPr lang="en-US" sz="1400" dirty="0">
              <a:solidFill>
                <a:schemeClr val="tx2">
                  <a:lumMod val="75000"/>
                </a:schemeClr>
              </a:solidFill>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dirty="0">
                <a:solidFill>
                  <a:schemeClr val="tx2">
                    <a:lumMod val="75000"/>
                  </a:schemeClr>
                </a:solidFill>
                <a:latin typeface="Times New Roman" panose="02020603050405020304" pitchFamily="18" charset="0"/>
                <a:cs typeface="Times New Roman" panose="02020603050405020304" pitchFamily="18" charset="0"/>
              </a:rPr>
              <a:t>Best balance between precision + recall</a:t>
            </a:r>
          </a:p>
          <a:p>
            <a:pPr lvl="1">
              <a:lnSpc>
                <a:spcPct val="90000"/>
              </a:lnSpc>
              <a:buFont typeface="Arial" panose="020B0604020202020204" pitchFamily="34" charset="0"/>
              <a:buChar char="•"/>
            </a:pPr>
            <a:r>
              <a:rPr lang="en-US" sz="1400" dirty="0">
                <a:solidFill>
                  <a:schemeClr val="tx2">
                    <a:lumMod val="75000"/>
                  </a:schemeClr>
                </a:solidFill>
                <a:latin typeface="Times New Roman" panose="02020603050405020304" pitchFamily="18" charset="0"/>
                <a:cs typeface="Times New Roman" panose="02020603050405020304" pitchFamily="18" charset="0"/>
              </a:rPr>
              <a:t>Very important for imbalanced data like fraud detection</a:t>
            </a:r>
          </a:p>
          <a:p>
            <a:pPr marL="0" indent="0">
              <a:lnSpc>
                <a:spcPct val="90000"/>
              </a:lnSpc>
              <a:buNone/>
            </a:pPr>
            <a:r>
              <a:rPr lang="en-US" sz="1400" b="1" dirty="0" err="1">
                <a:solidFill>
                  <a:schemeClr val="tx2">
                    <a:lumMod val="75000"/>
                  </a:schemeClr>
                </a:solidFill>
                <a:latin typeface="Times New Roman" panose="02020603050405020304" pitchFamily="18" charset="0"/>
                <a:cs typeface="Times New Roman" panose="02020603050405020304" pitchFamily="18" charset="0"/>
              </a:rPr>
              <a:t>XGBoost</a:t>
            </a:r>
            <a:r>
              <a:rPr lang="en-US" sz="1400" b="1" dirty="0">
                <a:solidFill>
                  <a:schemeClr val="tx2">
                    <a:lumMod val="75000"/>
                  </a:schemeClr>
                </a:solidFill>
                <a:latin typeface="Times New Roman" panose="02020603050405020304" pitchFamily="18" charset="0"/>
                <a:cs typeface="Times New Roman" panose="02020603050405020304" pitchFamily="18" charset="0"/>
              </a:rPr>
              <a:t> shows strong Recall (0.8310)</a:t>
            </a:r>
            <a:endParaRPr lang="en-US" sz="1400" dirty="0">
              <a:solidFill>
                <a:schemeClr val="tx2">
                  <a:lumMod val="75000"/>
                </a:schemeClr>
              </a:solidFill>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dirty="0">
                <a:solidFill>
                  <a:schemeClr val="tx2">
                    <a:lumMod val="75000"/>
                  </a:schemeClr>
                </a:solidFill>
                <a:latin typeface="Times New Roman" panose="02020603050405020304" pitchFamily="18" charset="0"/>
                <a:cs typeface="Times New Roman" panose="02020603050405020304" pitchFamily="18" charset="0"/>
              </a:rPr>
              <a:t>Catches most fraudulent transactions</a:t>
            </a:r>
          </a:p>
          <a:p>
            <a:pPr lvl="1">
              <a:lnSpc>
                <a:spcPct val="90000"/>
              </a:lnSpc>
              <a:buFont typeface="Arial" panose="020B0604020202020204" pitchFamily="34" charset="0"/>
              <a:buChar char="•"/>
            </a:pPr>
            <a:r>
              <a:rPr lang="en-US" sz="1400" dirty="0">
                <a:solidFill>
                  <a:schemeClr val="tx2">
                    <a:lumMod val="75000"/>
                  </a:schemeClr>
                </a:solidFill>
                <a:latin typeface="Times New Roman" panose="02020603050405020304" pitchFamily="18" charset="0"/>
                <a:cs typeface="Times New Roman" panose="02020603050405020304" pitchFamily="18" charset="0"/>
              </a:rPr>
              <a:t>Critical because missing fraud is costlier than false alarms</a:t>
            </a:r>
          </a:p>
          <a:p>
            <a:pPr marL="0" indent="0">
              <a:lnSpc>
                <a:spcPct val="90000"/>
              </a:lnSpc>
              <a:buNone/>
            </a:pPr>
            <a:r>
              <a:rPr lang="en-US" sz="1400" b="1" dirty="0">
                <a:solidFill>
                  <a:schemeClr val="tx2">
                    <a:lumMod val="75000"/>
                  </a:schemeClr>
                </a:solidFill>
                <a:latin typeface="Times New Roman" panose="02020603050405020304" pitchFamily="18" charset="0"/>
                <a:cs typeface="Times New Roman" panose="02020603050405020304" pitchFamily="18" charset="0"/>
              </a:rPr>
              <a:t>Highest ROC-AUC (0.8509) for </a:t>
            </a:r>
            <a:r>
              <a:rPr lang="en-US" sz="1400" b="1" dirty="0" err="1">
                <a:solidFill>
                  <a:schemeClr val="tx2">
                    <a:lumMod val="75000"/>
                  </a:schemeClr>
                </a:solidFill>
                <a:latin typeface="Times New Roman" panose="02020603050405020304" pitchFamily="18" charset="0"/>
                <a:cs typeface="Times New Roman" panose="02020603050405020304" pitchFamily="18" charset="0"/>
              </a:rPr>
              <a:t>XGBoost</a:t>
            </a:r>
            <a:endParaRPr lang="en-US" sz="1400" dirty="0">
              <a:solidFill>
                <a:schemeClr val="tx2">
                  <a:lumMod val="75000"/>
                </a:schemeClr>
              </a:solidFill>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dirty="0">
                <a:solidFill>
                  <a:schemeClr val="tx2">
                    <a:lumMod val="75000"/>
                  </a:schemeClr>
                </a:solidFill>
                <a:latin typeface="Times New Roman" panose="02020603050405020304" pitchFamily="18" charset="0"/>
                <a:cs typeface="Times New Roman" panose="02020603050405020304" pitchFamily="18" charset="0"/>
              </a:rPr>
              <a:t>Best separation between fraud and non-fraud</a:t>
            </a:r>
          </a:p>
          <a:p>
            <a:pPr lvl="1">
              <a:lnSpc>
                <a:spcPct val="90000"/>
              </a:lnSpc>
              <a:buFont typeface="Arial" panose="020B0604020202020204" pitchFamily="34" charset="0"/>
              <a:buChar char="•"/>
            </a:pPr>
            <a:r>
              <a:rPr lang="en-US" sz="1400" dirty="0">
                <a:solidFill>
                  <a:schemeClr val="tx2">
                    <a:lumMod val="75000"/>
                  </a:schemeClr>
                </a:solidFill>
                <a:latin typeface="Times New Roman" panose="02020603050405020304" pitchFamily="18" charset="0"/>
                <a:cs typeface="Times New Roman" panose="02020603050405020304" pitchFamily="18" charset="0"/>
              </a:rPr>
              <a:t>Indicates strong ranking ability under class imbalance</a:t>
            </a:r>
          </a:p>
          <a:p>
            <a:pPr marL="0" indent="0">
              <a:lnSpc>
                <a:spcPct val="90000"/>
              </a:lnSpc>
              <a:buNone/>
            </a:pPr>
            <a:r>
              <a:rPr lang="en-US" sz="1400" b="1" dirty="0">
                <a:solidFill>
                  <a:schemeClr val="tx2">
                    <a:lumMod val="75000"/>
                  </a:schemeClr>
                </a:solidFill>
                <a:latin typeface="Times New Roman" panose="02020603050405020304" pitchFamily="18" charset="0"/>
                <a:cs typeface="Times New Roman" panose="02020603050405020304" pitchFamily="18" charset="0"/>
              </a:rPr>
              <a:t>Other Models Have Weaknesses:</a:t>
            </a:r>
            <a:endParaRPr lang="en-US" sz="1400" dirty="0">
              <a:solidFill>
                <a:schemeClr val="tx2">
                  <a:lumMod val="75000"/>
                </a:schemeClr>
              </a:solidFill>
              <a:latin typeface="Times New Roman" panose="02020603050405020304" pitchFamily="18" charset="0"/>
              <a:cs typeface="Times New Roman" panose="02020603050405020304" pitchFamily="18" charset="0"/>
            </a:endParaRPr>
          </a:p>
          <a:p>
            <a:pPr lvl="1">
              <a:lnSpc>
                <a:spcPct val="90000"/>
              </a:lnSpc>
              <a:buFont typeface="Arial" panose="020B0604020202020204" pitchFamily="34" charset="0"/>
              <a:buChar char="•"/>
            </a:pPr>
            <a:r>
              <a:rPr lang="en-US" sz="1400" b="1" dirty="0">
                <a:solidFill>
                  <a:schemeClr val="tx2">
                    <a:lumMod val="75000"/>
                  </a:schemeClr>
                </a:solidFill>
                <a:latin typeface="Times New Roman" panose="02020603050405020304" pitchFamily="18" charset="0"/>
                <a:cs typeface="Times New Roman" panose="02020603050405020304" pitchFamily="18" charset="0"/>
              </a:rPr>
              <a:t>Logistic Regression:</a:t>
            </a:r>
            <a:r>
              <a:rPr lang="en-US" sz="1400" dirty="0">
                <a:solidFill>
                  <a:schemeClr val="tx2">
                    <a:lumMod val="75000"/>
                  </a:schemeClr>
                </a:solidFill>
                <a:latin typeface="Times New Roman" panose="02020603050405020304" pitchFamily="18" charset="0"/>
                <a:cs typeface="Times New Roman" panose="02020603050405020304" pitchFamily="18" charset="0"/>
              </a:rPr>
              <a:t> very high recall but poor precision → too many false alarms</a:t>
            </a:r>
          </a:p>
          <a:p>
            <a:pPr lvl="1">
              <a:lnSpc>
                <a:spcPct val="90000"/>
              </a:lnSpc>
              <a:buFont typeface="Arial" panose="020B0604020202020204" pitchFamily="34" charset="0"/>
              <a:buChar char="•"/>
            </a:pPr>
            <a:r>
              <a:rPr lang="en-US" sz="1400" b="1" dirty="0">
                <a:solidFill>
                  <a:schemeClr val="tx2">
                    <a:lumMod val="75000"/>
                  </a:schemeClr>
                </a:solidFill>
                <a:latin typeface="Times New Roman" panose="02020603050405020304" pitchFamily="18" charset="0"/>
                <a:cs typeface="Times New Roman" panose="02020603050405020304" pitchFamily="18" charset="0"/>
              </a:rPr>
              <a:t>Random Forest:</a:t>
            </a:r>
            <a:r>
              <a:rPr lang="en-US" sz="1400" dirty="0">
                <a:solidFill>
                  <a:schemeClr val="tx2">
                    <a:lumMod val="75000"/>
                  </a:schemeClr>
                </a:solidFill>
                <a:latin typeface="Times New Roman" panose="02020603050405020304" pitchFamily="18" charset="0"/>
                <a:cs typeface="Times New Roman" panose="02020603050405020304" pitchFamily="18" charset="0"/>
              </a:rPr>
              <a:t> almost classifies everything as fraud → unusable precision</a:t>
            </a:r>
          </a:p>
          <a:p>
            <a:pPr lvl="1">
              <a:lnSpc>
                <a:spcPct val="90000"/>
              </a:lnSpc>
              <a:buFont typeface="Arial" panose="020B0604020202020204" pitchFamily="34" charset="0"/>
              <a:buChar char="•"/>
            </a:pPr>
            <a:r>
              <a:rPr lang="en-US" sz="1400" b="1" dirty="0">
                <a:solidFill>
                  <a:schemeClr val="tx2">
                    <a:lumMod val="75000"/>
                  </a:schemeClr>
                </a:solidFill>
                <a:latin typeface="Times New Roman" panose="02020603050405020304" pitchFamily="18" charset="0"/>
                <a:cs typeface="Times New Roman" panose="02020603050405020304" pitchFamily="18" charset="0"/>
              </a:rPr>
              <a:t>Decision Tree:</a:t>
            </a:r>
            <a:r>
              <a:rPr lang="en-US" sz="1400" dirty="0">
                <a:solidFill>
                  <a:schemeClr val="tx2">
                    <a:lumMod val="75000"/>
                  </a:schemeClr>
                </a:solidFill>
                <a:latin typeface="Times New Roman" panose="02020603050405020304" pitchFamily="18" charset="0"/>
                <a:cs typeface="Times New Roman" panose="02020603050405020304" pitchFamily="18" charset="0"/>
              </a:rPr>
              <a:t> unstable and low precision</a:t>
            </a:r>
          </a:p>
          <a:p>
            <a:pPr>
              <a:lnSpc>
                <a:spcPct val="90000"/>
              </a:lnSpc>
            </a:pPr>
            <a:endParaRPr lang="en-US" sz="1400" dirty="0">
              <a:solidFill>
                <a:schemeClr val="tx2">
                  <a:lumMod val="75000"/>
                </a:schemeClr>
              </a:solidFill>
            </a:endParaRPr>
          </a:p>
          <a:p>
            <a:pPr>
              <a:lnSpc>
                <a:spcPct val="90000"/>
              </a:lnSpc>
            </a:pPr>
            <a:endParaRPr lang="en-US" sz="1400" dirty="0">
              <a:solidFill>
                <a:schemeClr val="tx2">
                  <a:lumMod val="75000"/>
                </a:schemeClr>
              </a:solidFill>
            </a:endParaRPr>
          </a:p>
          <a:p>
            <a:pPr>
              <a:lnSpc>
                <a:spcPct val="90000"/>
              </a:lnSpc>
            </a:pPr>
            <a:endParaRPr lang="en-US" sz="1400" dirty="0">
              <a:solidFill>
                <a:schemeClr val="tx2">
                  <a:lumMod val="75000"/>
                </a:schemeClr>
              </a:solidFill>
            </a:endParaRPr>
          </a:p>
        </p:txBody>
      </p:sp>
    </p:spTree>
    <p:extLst>
      <p:ext uri="{BB962C8B-B14F-4D97-AF65-F5344CB8AC3E}">
        <p14:creationId xmlns:p14="http://schemas.microsoft.com/office/powerpoint/2010/main" val="2218221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7DA8593-5BA7-45F3-B447-37FB2B9F7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B87B3-711E-A1CA-C009-3F857137B8BF}"/>
              </a:ext>
            </a:extLst>
          </p:cNvPr>
          <p:cNvSpPr>
            <a:spLocks noGrp="1"/>
          </p:cNvSpPr>
          <p:nvPr>
            <p:ph type="title"/>
          </p:nvPr>
        </p:nvSpPr>
        <p:spPr>
          <a:xfrm>
            <a:off x="649224" y="645106"/>
            <a:ext cx="6574536" cy="1259894"/>
          </a:xfrm>
        </p:spPr>
        <p:txBody>
          <a:bodyPr>
            <a:normAutofit/>
          </a:bodyPr>
          <a:lstStyle/>
          <a:p>
            <a:br>
              <a:rPr lang="en-US"/>
            </a:br>
            <a:endParaRPr lang="en-US"/>
          </a:p>
        </p:txBody>
      </p:sp>
      <p:sp>
        <p:nvSpPr>
          <p:cNvPr id="14" name="Rectangle 13">
            <a:extLst>
              <a:ext uri="{FF2B5EF4-FFF2-40B4-BE49-F238E27FC236}">
                <a16:creationId xmlns:a16="http://schemas.microsoft.com/office/drawing/2014/main" id="{035CBF17-C0BF-49C1-8FB7-B43A3545D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CB10A3E-E3D7-E000-4A1F-D5D2D7525D7B}"/>
              </a:ext>
            </a:extLst>
          </p:cNvPr>
          <p:cNvSpPr>
            <a:spLocks noGrp="1"/>
          </p:cNvSpPr>
          <p:nvPr>
            <p:ph idx="1"/>
          </p:nvPr>
        </p:nvSpPr>
        <p:spPr>
          <a:xfrm>
            <a:off x="649225" y="406399"/>
            <a:ext cx="5853176" cy="5911273"/>
          </a:xfrm>
        </p:spPr>
        <p:txBody>
          <a:bodyPr>
            <a:normAutofit fontScale="77500" lnSpcReduction="20000"/>
          </a:bodyPr>
          <a:lstStyle/>
          <a:p>
            <a:pPr marL="0" indent="0">
              <a:lnSpc>
                <a:spcPct val="90000"/>
              </a:lnSpc>
              <a:buNone/>
            </a:pPr>
            <a:endParaRPr lang="en-US" sz="900" b="1" dirty="0"/>
          </a:p>
          <a:p>
            <a:pPr marL="0" indent="0">
              <a:lnSpc>
                <a:spcPct val="90000"/>
              </a:lnSpc>
              <a:buNone/>
            </a:pPr>
            <a:endParaRPr lang="en-US" sz="900" b="1" dirty="0"/>
          </a:p>
          <a:p>
            <a:pPr marL="0" indent="0">
              <a:buNone/>
            </a:pPr>
            <a:r>
              <a:rPr lang="en-US" sz="2300" b="1" dirty="0">
                <a:latin typeface="Times New Roman" panose="02020603050405020304" pitchFamily="18" charset="0"/>
                <a:cs typeface="Times New Roman" panose="02020603050405020304" pitchFamily="18" charset="0"/>
              </a:rPr>
              <a:t>Confusion​‍​‌‍​‍‌​‍​‌‍​‍‌ Matrix Insights </a:t>
            </a:r>
          </a:p>
          <a:p>
            <a:pPr marL="0" indent="0">
              <a:buNone/>
            </a:pPr>
            <a:r>
              <a:rPr lang="en-US" sz="2300" b="1" dirty="0">
                <a:latin typeface="Times New Roman" panose="02020603050405020304" pitchFamily="18" charset="0"/>
                <a:cs typeface="Times New Roman" panose="02020603050405020304" pitchFamily="18" charset="0"/>
              </a:rPr>
              <a:t>Interpretation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By far, </a:t>
            </a:r>
            <a:r>
              <a:rPr lang="en-US" sz="2300" dirty="0" err="1">
                <a:latin typeface="Times New Roman" panose="02020603050405020304" pitchFamily="18" charset="0"/>
                <a:cs typeface="Times New Roman" panose="02020603050405020304" pitchFamily="18" charset="0"/>
              </a:rPr>
              <a:t>XGBoost</a:t>
            </a:r>
            <a:r>
              <a:rPr lang="en-US" sz="2300" dirty="0">
                <a:latin typeface="Times New Roman" panose="02020603050405020304" pitchFamily="18" charset="0"/>
                <a:cs typeface="Times New Roman" panose="02020603050405020304" pitchFamily="18" charset="0"/>
              </a:rPr>
              <a:t> delivers the most balanced prediction results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Unlike Random Forest &amp; Logistic Regression, it does not label all transactions as fraud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Identifies fraud cases even as it keeps a large number of true normal transactions intact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Displays appropriate treatment of the issue of severe class imbalance </a:t>
            </a:r>
          </a:p>
          <a:p>
            <a:pPr marL="0" indent="0">
              <a:buNone/>
            </a:pPr>
            <a:r>
              <a:rPr lang="en-US" sz="2300" b="1" dirty="0">
                <a:latin typeface="Times New Roman" panose="02020603050405020304" pitchFamily="18" charset="0"/>
                <a:cs typeface="Times New Roman" panose="02020603050405020304" pitchFamily="18" charset="0"/>
              </a:rPr>
              <a:t>ROC Curve Comparison </a:t>
            </a:r>
          </a:p>
          <a:p>
            <a:pPr marL="0" indent="0">
              <a:buNone/>
            </a:pPr>
            <a:r>
              <a:rPr lang="en-US" sz="2300" b="1" dirty="0">
                <a:latin typeface="Times New Roman" panose="02020603050405020304" pitchFamily="18" charset="0"/>
                <a:cs typeface="Times New Roman" panose="02020603050405020304" pitchFamily="18" charset="0"/>
              </a:rPr>
              <a:t>Interpretation </a:t>
            </a:r>
          </a:p>
          <a:p>
            <a:pPr>
              <a:buFont typeface="Arial" panose="020B0604020202020204" pitchFamily="34" charset="0"/>
              <a:buChar char="•"/>
            </a:pPr>
            <a:r>
              <a:rPr lang="en-US" sz="2300" dirty="0" err="1">
                <a:latin typeface="Times New Roman" panose="02020603050405020304" pitchFamily="18" charset="0"/>
                <a:cs typeface="Times New Roman" panose="02020603050405020304" pitchFamily="18" charset="0"/>
              </a:rPr>
              <a:t>XGBoost</a:t>
            </a:r>
            <a:r>
              <a:rPr lang="en-US" sz="2300" dirty="0">
                <a:latin typeface="Times New Roman" panose="02020603050405020304" pitchFamily="18" charset="0"/>
                <a:cs typeface="Times New Roman" panose="02020603050405020304" pitchFamily="18" charset="0"/>
              </a:rPr>
              <a:t> is a model whose curve is always on top of the other models'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It signals an excellent tradeoff between true positives and false positives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At the same time, it has the strongest capability of detecting fraud over the different ​‍​‌‍​‍‌​‍​‌‍​‍‌thresholds</a:t>
            </a:r>
          </a:p>
          <a:p>
            <a:pPr>
              <a:lnSpc>
                <a:spcPct val="90000"/>
              </a:lnSpc>
            </a:pPr>
            <a:endParaRPr lang="en-US" sz="900" dirty="0"/>
          </a:p>
        </p:txBody>
      </p:sp>
      <p:pic>
        <p:nvPicPr>
          <p:cNvPr id="5" name="Picture 4" descr="A group of blue squares with numbers&#10;&#10;AI-generated content may be incorrect.">
            <a:extLst>
              <a:ext uri="{FF2B5EF4-FFF2-40B4-BE49-F238E27FC236}">
                <a16:creationId xmlns:a16="http://schemas.microsoft.com/office/drawing/2014/main" id="{31A4B342-EC9D-0E94-1BC8-59494EBAF908}"/>
              </a:ext>
            </a:extLst>
          </p:cNvPr>
          <p:cNvPicPr>
            <a:picLocks noChangeAspect="1"/>
          </p:cNvPicPr>
          <p:nvPr/>
        </p:nvPicPr>
        <p:blipFill>
          <a:blip r:embed="rId2">
            <a:extLst>
              <a:ext uri="{28A0092B-C50C-407E-A947-70E740481C1C}">
                <a14:useLocalDpi xmlns:a14="http://schemas.microsoft.com/office/drawing/2010/main" val="0"/>
              </a:ext>
            </a:extLst>
          </a:blip>
          <a:srcRect t="4720" r="-2" b="2320"/>
          <a:stretch>
            <a:fillRect/>
          </a:stretch>
        </p:blipFill>
        <p:spPr>
          <a:xfrm>
            <a:off x="7065817" y="267856"/>
            <a:ext cx="4793673" cy="2918828"/>
          </a:xfrm>
          <a:prstGeom prst="rect">
            <a:avLst/>
          </a:prstGeom>
        </p:spPr>
      </p:pic>
      <p:pic>
        <p:nvPicPr>
          <p:cNvPr id="7" name="Picture 6" descr="A graph of different colored lines&#10;&#10;AI-generated content may be incorrect.">
            <a:extLst>
              <a:ext uri="{FF2B5EF4-FFF2-40B4-BE49-F238E27FC236}">
                <a16:creationId xmlns:a16="http://schemas.microsoft.com/office/drawing/2014/main" id="{9AF0AAAB-FA2F-7163-08BC-F257539A794C}"/>
              </a:ext>
            </a:extLst>
          </p:cNvPr>
          <p:cNvPicPr>
            <a:picLocks noChangeAspect="1"/>
          </p:cNvPicPr>
          <p:nvPr/>
        </p:nvPicPr>
        <p:blipFill>
          <a:blip r:embed="rId3">
            <a:extLst>
              <a:ext uri="{28A0092B-C50C-407E-A947-70E740481C1C}">
                <a14:useLocalDpi xmlns:a14="http://schemas.microsoft.com/office/drawing/2010/main" val="0"/>
              </a:ext>
            </a:extLst>
          </a:blip>
          <a:srcRect l="3115" r="4011" b="-1"/>
          <a:stretch>
            <a:fillRect/>
          </a:stretch>
        </p:blipFill>
        <p:spPr>
          <a:xfrm>
            <a:off x="6968746" y="3565236"/>
            <a:ext cx="5103181" cy="2808917"/>
          </a:xfrm>
          <a:prstGeom prst="rect">
            <a:avLst/>
          </a:prstGeom>
        </p:spPr>
      </p:pic>
      <p:sp>
        <p:nvSpPr>
          <p:cNvPr id="16" name="Freeform 11">
            <a:extLst>
              <a:ext uri="{FF2B5EF4-FFF2-40B4-BE49-F238E27FC236}">
                <a16:creationId xmlns:a16="http://schemas.microsoft.com/office/drawing/2014/main" id="{F5147F3F-3E4A-4255-8C92-856618C47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1221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9FAF7B-646E-0E2E-6491-3286626051AF}"/>
              </a:ext>
            </a:extLst>
          </p:cNvPr>
          <p:cNvSpPr>
            <a:spLocks noGrp="1"/>
          </p:cNvSpPr>
          <p:nvPr>
            <p:ph type="title"/>
          </p:nvPr>
        </p:nvSpPr>
        <p:spPr>
          <a:xfrm>
            <a:off x="585216" y="159575"/>
            <a:ext cx="6574536" cy="1544406"/>
          </a:xfrm>
        </p:spPr>
        <p:txBody>
          <a:bodyPr>
            <a:normAutofit/>
          </a:bodyPr>
          <a:lstStyle/>
          <a:p>
            <a:pPr>
              <a:lnSpc>
                <a:spcPct val="90000"/>
              </a:lnSpc>
            </a:pPr>
            <a:r>
              <a:rPr lang="en-US" sz="1200" b="1" dirty="0">
                <a:latin typeface="Times New Roman" panose="02020603050405020304" pitchFamily="18" charset="0"/>
                <a:cs typeface="Times New Roman" panose="02020603050405020304" pitchFamily="18" charset="0"/>
              </a:rPr>
              <a:t>Feature Importance &amp; Explainability</a:t>
            </a: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Why​‍​‌‍​‍‌​‍​‌‍​‍‌ Feature Importance Matters</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Feature importance helps to determine which features have the greatest impact on fraud prediction. It also provides insight into the workings of the model by showing the rationale behind the model's decisions. The knowledge of feature importance thus allows business teams to come up with the most efficient anti-fraud measures that are focused on a specific area.</a:t>
            </a:r>
            <a:br>
              <a:rPr lang="en-US" sz="1300" b="1" dirty="0">
                <a:latin typeface="Times New Roman" panose="02020603050405020304" pitchFamily="18" charset="0"/>
                <a:cs typeface="Times New Roman" panose="02020603050405020304" pitchFamily="18" charset="0"/>
              </a:rPr>
            </a:br>
            <a:endParaRPr lang="en-US" sz="900" dirty="0"/>
          </a:p>
        </p:txBody>
      </p:sp>
      <p:sp>
        <p:nvSpPr>
          <p:cNvPr id="12" name="Rectangle 11">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8CCF1C9-993D-8289-1FB8-2A5AA4A864CA}"/>
              </a:ext>
            </a:extLst>
          </p:cNvPr>
          <p:cNvSpPr>
            <a:spLocks noGrp="1"/>
          </p:cNvSpPr>
          <p:nvPr>
            <p:ph idx="1"/>
          </p:nvPr>
        </p:nvSpPr>
        <p:spPr>
          <a:xfrm>
            <a:off x="914400" y="1708728"/>
            <a:ext cx="6862618" cy="4498893"/>
          </a:xfrm>
        </p:spPr>
        <p:txBody>
          <a:bodyPr>
            <a:noAutofit/>
          </a:bodyPr>
          <a:lstStyle/>
          <a:p>
            <a:pPr marL="0" indent="0">
              <a:lnSpc>
                <a:spcPct val="90000"/>
              </a:lnSpc>
              <a:buNone/>
            </a:pPr>
            <a:r>
              <a:rPr lang="en-US" sz="1200" b="1" dirty="0">
                <a:latin typeface="Times New Roman" panose="02020603050405020304" pitchFamily="18" charset="0"/>
                <a:cs typeface="Times New Roman" panose="02020603050405020304" pitchFamily="18" charset="0"/>
              </a:rPr>
              <a:t>Key Findings from </a:t>
            </a:r>
            <a:r>
              <a:rPr lang="en-US" sz="1200" b="1" dirty="0" err="1">
                <a:latin typeface="Times New Roman" panose="02020603050405020304" pitchFamily="18" charset="0"/>
                <a:cs typeface="Times New Roman" panose="02020603050405020304" pitchFamily="18" charset="0"/>
              </a:rPr>
              <a:t>XGBoost</a:t>
            </a:r>
            <a:r>
              <a:rPr lang="en-US" sz="1200" b="1" dirty="0">
                <a:latin typeface="Times New Roman" panose="02020603050405020304" pitchFamily="18" charset="0"/>
                <a:cs typeface="Times New Roman" panose="02020603050405020304" pitchFamily="18" charset="0"/>
              </a:rPr>
              <a:t> Feature Importance</a:t>
            </a:r>
          </a:p>
          <a:p>
            <a:pPr>
              <a:lnSpc>
                <a:spcPct val="90000"/>
              </a:lnSpc>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Top Predictors of Fraud</a:t>
            </a:r>
          </a:p>
          <a:p>
            <a:pPr>
              <a:lnSpc>
                <a:spcPct val="90000"/>
              </a:lnSpc>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Transaction_Type_Bank Transfer</a:t>
            </a:r>
            <a:r>
              <a:rPr lang="en-US" sz="1200" dirty="0">
                <a:latin typeface="Times New Roman" panose="02020603050405020304" pitchFamily="18" charset="0"/>
                <a:cs typeface="Times New Roman" panose="02020603050405020304" pitchFamily="18" charset="0"/>
              </a:rPr>
              <a:t> – strongest fraud indicator</a:t>
            </a:r>
          </a:p>
          <a:p>
            <a:pPr>
              <a:lnSpc>
                <a:spcPct val="90000"/>
              </a:lnSpc>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Device_Used_Tablet</a:t>
            </a:r>
            <a:endParaRPr lang="en-US" sz="12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Hours_Since_Last_Transaction</a:t>
            </a:r>
            <a:endParaRPr lang="en-US" sz="12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Transaction_Type_POS</a:t>
            </a:r>
            <a:r>
              <a:rPr lang="en-US" sz="1200" b="1" dirty="0">
                <a:latin typeface="Times New Roman" panose="02020603050405020304" pitchFamily="18" charset="0"/>
                <a:cs typeface="Times New Roman" panose="02020603050405020304" pitchFamily="18" charset="0"/>
              </a:rPr>
              <a:t> Payment</a:t>
            </a:r>
            <a:endParaRPr lang="en-US" sz="12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Transaction_Type_Online</a:t>
            </a:r>
            <a:r>
              <a:rPr lang="en-US" sz="1200" b="1" dirty="0">
                <a:latin typeface="Times New Roman" panose="02020603050405020304" pitchFamily="18" charset="0"/>
                <a:cs typeface="Times New Roman" panose="02020603050405020304" pitchFamily="18" charset="0"/>
              </a:rPr>
              <a:t> Purchase</a:t>
            </a:r>
            <a:endParaRPr lang="en-US" sz="12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Payment_Method_Debit</a:t>
            </a:r>
            <a:r>
              <a:rPr lang="en-US" sz="1200" b="1" dirty="0">
                <a:latin typeface="Times New Roman" panose="02020603050405020304" pitchFamily="18" charset="0"/>
                <a:cs typeface="Times New Roman" panose="02020603050405020304" pitchFamily="18" charset="0"/>
              </a:rPr>
              <a:t> Card / UPI</a:t>
            </a:r>
            <a:endParaRPr lang="en-US" sz="12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200" b="1" dirty="0" err="1">
                <a:latin typeface="Times New Roman" panose="02020603050405020304" pitchFamily="18" charset="0"/>
                <a:cs typeface="Times New Roman" panose="02020603050405020304" pitchFamily="18" charset="0"/>
              </a:rPr>
              <a:t>Device_Used_Mobile</a:t>
            </a:r>
            <a:r>
              <a:rPr lang="en-US" sz="1200" b="1" dirty="0">
                <a:latin typeface="Times New Roman" panose="02020603050405020304" pitchFamily="18" charset="0"/>
                <a:cs typeface="Times New Roman" panose="02020603050405020304" pitchFamily="18" charset="0"/>
              </a:rPr>
              <a:t> / Unknown Device</a:t>
            </a:r>
            <a:endParaRPr lang="en-US" sz="1200" dirty="0">
              <a:latin typeface="Times New Roman" panose="02020603050405020304" pitchFamily="18" charset="0"/>
              <a:cs typeface="Times New Roman" panose="02020603050405020304" pitchFamily="18" charset="0"/>
            </a:endParaRPr>
          </a:p>
          <a:p>
            <a:pPr marL="0" indent="0">
              <a:lnSpc>
                <a:spcPct val="90000"/>
              </a:lnSpc>
              <a:buNone/>
            </a:pPr>
            <a:r>
              <a:rPr lang="en-US" sz="1200" b="1" dirty="0">
                <a:latin typeface="Times New Roman" panose="02020603050405020304" pitchFamily="18" charset="0"/>
                <a:cs typeface="Times New Roman" panose="02020603050405020304" pitchFamily="18" charset="0"/>
              </a:rPr>
              <a:t>Interpretation</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Transactional​‍​‌‍​‍‌​‍​‌‍​‍‌ behavior and device usage are the primary factors that have led to fraud.</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Most of the time, fraud-related behavior is dictated by the interplay of timing e.g., </a:t>
            </a:r>
            <a:r>
              <a:rPr lang="en-US" sz="1200" dirty="0" err="1">
                <a:latin typeface="Times New Roman" panose="02020603050405020304" pitchFamily="18" charset="0"/>
                <a:cs typeface="Times New Roman" panose="02020603050405020304" pitchFamily="18" charset="0"/>
              </a:rPr>
              <a:t>Hours_Since_Last_Transaction</a:t>
            </a:r>
            <a:r>
              <a:rPr lang="en-US" sz="1200" dirty="0">
                <a:latin typeface="Times New Roman" panose="02020603050405020304" pitchFamily="18" charset="0"/>
                <a:cs typeface="Times New Roman" panose="02020603050405020304" pitchFamily="18" charset="0"/>
              </a:rPr>
              <a:t> has the major role.</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Fraudsters use risky transaction types to a greater extent and also, they use less secure devices.</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Location-based factors (San Francisco, Houston, Chicago, etc.) have a moderate impact on the situation.</a:t>
            </a:r>
          </a:p>
          <a:p>
            <a:pPr>
              <a:lnSpc>
                <a:spcPct val="9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On the other hand, traditional data (Account Age, Previous Fraud Cases) are less ​‍​‌‍​‍‌​‍​‌‍​‍‌indicative.</a:t>
            </a:r>
          </a:p>
        </p:txBody>
      </p:sp>
      <p:pic>
        <p:nvPicPr>
          <p:cNvPr id="5" name="Picture 4" descr="A graph of a number of different colored bars&#10;&#10;AI-generated content may be incorrect.">
            <a:extLst>
              <a:ext uri="{FF2B5EF4-FFF2-40B4-BE49-F238E27FC236}">
                <a16:creationId xmlns:a16="http://schemas.microsoft.com/office/drawing/2014/main" id="{0118A37A-4BB3-7FAB-4233-C260E5E7B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2088" y="267854"/>
            <a:ext cx="4380530" cy="6169891"/>
          </a:xfrm>
          <a:prstGeom prst="rect">
            <a:avLst/>
          </a:prstGeom>
        </p:spPr>
      </p:pic>
      <p:sp>
        <p:nvSpPr>
          <p:cNvPr id="14"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1647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FF7C8-7743-474C-F2EC-B60D77B65F29}"/>
              </a:ext>
            </a:extLst>
          </p:cNvPr>
          <p:cNvSpPr>
            <a:spLocks noGrp="1"/>
          </p:cNvSpPr>
          <p:nvPr>
            <p:ph type="title"/>
          </p:nvPr>
        </p:nvSpPr>
        <p:spPr>
          <a:xfrm>
            <a:off x="649223" y="-5533"/>
            <a:ext cx="8642558" cy="2282167"/>
          </a:xfrm>
        </p:spPr>
        <p:txBody>
          <a:bodyPr>
            <a:normAutofit/>
          </a:bodyPr>
          <a:lstStyle/>
          <a:p>
            <a:pPr>
              <a:lnSpc>
                <a:spcPct val="90000"/>
              </a:lnSpc>
            </a:pPr>
            <a:r>
              <a:rPr lang="en-US" sz="1200" b="1" dirty="0">
                <a:latin typeface="Times New Roman" panose="02020603050405020304" pitchFamily="18" charset="0"/>
                <a:cs typeface="Times New Roman" panose="02020603050405020304" pitchFamily="18" charset="0"/>
              </a:rPr>
              <a:t>Key Insights from Fraud Analysis</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Behavioral Patterns</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Fraud is strongly linked to </a:t>
            </a:r>
            <a:r>
              <a:rPr lang="en-US" sz="1200" b="1" dirty="0">
                <a:latin typeface="Times New Roman" panose="02020603050405020304" pitchFamily="18" charset="0"/>
                <a:cs typeface="Times New Roman" panose="02020603050405020304" pitchFamily="18" charset="0"/>
              </a:rPr>
              <a:t>transaction timing</a:t>
            </a:r>
            <a:r>
              <a:rPr lang="en-US" sz="1200" dirty="0">
                <a:latin typeface="Times New Roman" panose="02020603050405020304" pitchFamily="18" charset="0"/>
                <a:cs typeface="Times New Roman" panose="02020603050405020304" pitchFamily="18" charset="0"/>
              </a:rPr>
              <a:t>, especially short intervals between consecutive payments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Higher fraud likelihood when customers perform </a:t>
            </a:r>
            <a:r>
              <a:rPr lang="en-US" sz="1200" b="1" dirty="0">
                <a:latin typeface="Times New Roman" panose="02020603050405020304" pitchFamily="18" charset="0"/>
                <a:cs typeface="Times New Roman" panose="02020603050405020304" pitchFamily="18" charset="0"/>
              </a:rPr>
              <a:t>6+ transactions within 24 hours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Fraudulent transactions often occur through </a:t>
            </a:r>
            <a:r>
              <a:rPr lang="en-US" sz="1200" b="1" dirty="0">
                <a:latin typeface="Times New Roman" panose="02020603050405020304" pitchFamily="18" charset="0"/>
                <a:cs typeface="Times New Roman" panose="02020603050405020304" pitchFamily="18" charset="0"/>
              </a:rPr>
              <a:t>Bank Transfers, POS Payments, and Online Purchases</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Device-Related Patterns</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Fraudsters frequently use </a:t>
            </a:r>
            <a:r>
              <a:rPr lang="en-US" sz="1200" b="1" dirty="0">
                <a:latin typeface="Times New Roman" panose="02020603050405020304" pitchFamily="18" charset="0"/>
                <a:cs typeface="Times New Roman" panose="02020603050405020304" pitchFamily="18" charset="0"/>
              </a:rPr>
              <a:t>Tablets, Mobiles, or Unknown Devices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Device type ranks among the </a:t>
            </a:r>
            <a:r>
              <a:rPr lang="en-US" sz="1200" b="1" dirty="0">
                <a:latin typeface="Times New Roman" panose="02020603050405020304" pitchFamily="18" charset="0"/>
                <a:cs typeface="Times New Roman" panose="02020603050405020304" pitchFamily="18" charset="0"/>
              </a:rPr>
              <a:t>top predictors</a:t>
            </a:r>
            <a:r>
              <a:rPr lang="en-US" sz="1200" dirty="0">
                <a:latin typeface="Times New Roman" panose="02020603050405020304" pitchFamily="18" charset="0"/>
                <a:cs typeface="Times New Roman" panose="02020603050405020304" pitchFamily="18" charset="0"/>
              </a:rPr>
              <a:t> of fraud in </a:t>
            </a:r>
            <a:r>
              <a:rPr lang="en-US" sz="1200" dirty="0" err="1">
                <a:latin typeface="Times New Roman" panose="02020603050405020304" pitchFamily="18" charset="0"/>
                <a:cs typeface="Times New Roman" panose="02020603050405020304" pitchFamily="18" charset="0"/>
              </a:rPr>
              <a:t>XGBoost</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Transaction Amount Patterns</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Fraud clusters around </a:t>
            </a:r>
            <a:r>
              <a:rPr lang="en-US" sz="1200" b="1" dirty="0">
                <a:latin typeface="Times New Roman" panose="02020603050405020304" pitchFamily="18" charset="0"/>
                <a:cs typeface="Times New Roman" panose="02020603050405020304" pitchFamily="18" charset="0"/>
              </a:rPr>
              <a:t>mid-range amounts ($1,000–$5,000)</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High-value transactions (&gt; $10,000) show a </a:t>
            </a:r>
            <a:r>
              <a:rPr lang="en-US" sz="1200" b="1" dirty="0">
                <a:latin typeface="Times New Roman" panose="02020603050405020304" pitchFamily="18" charset="0"/>
                <a:cs typeface="Times New Roman" panose="02020603050405020304" pitchFamily="18" charset="0"/>
              </a:rPr>
              <a:t>higher fraud rate (6.3%)</a:t>
            </a:r>
            <a:r>
              <a:rPr lang="en-US" sz="1200" dirty="0">
                <a:latin typeface="Times New Roman" panose="02020603050405020304" pitchFamily="18" charset="0"/>
                <a:cs typeface="Times New Roman" panose="02020603050405020304" pitchFamily="18" charset="0"/>
              </a:rPr>
              <a:t>, though less frequent</a:t>
            </a:r>
            <a:br>
              <a:rPr lang="en-US" sz="900" dirty="0"/>
            </a:br>
            <a:endParaRPr lang="en-US" sz="900" dirty="0"/>
          </a:p>
        </p:txBody>
      </p:sp>
      <p:sp>
        <p:nvSpPr>
          <p:cNvPr id="28" name="Rectangle 27">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D23C06D7-78B5-8FD9-B612-585A95160BE5}"/>
              </a:ext>
            </a:extLst>
          </p:cNvPr>
          <p:cNvPicPr>
            <a:picLocks noChangeAspect="1"/>
          </p:cNvPicPr>
          <p:nvPr/>
        </p:nvPicPr>
        <p:blipFill>
          <a:blip r:embed="rId3"/>
          <a:srcRect l="6960" r="29831"/>
          <a:stretch>
            <a:fillRect/>
          </a:stretch>
        </p:blipFill>
        <p:spPr>
          <a:xfrm>
            <a:off x="9758126" y="3426233"/>
            <a:ext cx="2133439" cy="2954506"/>
          </a:xfrm>
          <a:prstGeom prst="rect">
            <a:avLst/>
          </a:prstGeom>
        </p:spPr>
      </p:pic>
      <p:sp>
        <p:nvSpPr>
          <p:cNvPr id="29"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Content Placeholder 2">
            <a:extLst>
              <a:ext uri="{FF2B5EF4-FFF2-40B4-BE49-F238E27FC236}">
                <a16:creationId xmlns:a16="http://schemas.microsoft.com/office/drawing/2014/main" id="{90049BF5-7FB2-9D7F-348C-37A5DA7D9672}"/>
              </a:ext>
            </a:extLst>
          </p:cNvPr>
          <p:cNvGraphicFramePr>
            <a:graphicFrameLocks noGrp="1"/>
          </p:cNvGraphicFramePr>
          <p:nvPr>
            <p:ph idx="1"/>
            <p:extLst>
              <p:ext uri="{D42A27DB-BD31-4B8C-83A1-F6EECF244321}">
                <p14:modId xmlns:p14="http://schemas.microsoft.com/office/powerpoint/2010/main" val="2355598734"/>
              </p:ext>
            </p:extLst>
          </p:nvPr>
        </p:nvGraphicFramePr>
        <p:xfrm>
          <a:off x="649224" y="2124364"/>
          <a:ext cx="8642558" cy="44431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00597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BA4301-A15F-DC5A-8287-AE2B2081E66D}"/>
              </a:ext>
            </a:extLst>
          </p:cNvPr>
          <p:cNvSpPr>
            <a:spLocks noGrp="1"/>
          </p:cNvSpPr>
          <p:nvPr>
            <p:ph type="title"/>
          </p:nvPr>
        </p:nvSpPr>
        <p:spPr>
          <a:xfrm>
            <a:off x="831273" y="645106"/>
            <a:ext cx="9264071" cy="1580858"/>
          </a:xfrm>
        </p:spPr>
        <p:txBody>
          <a:bodyPr>
            <a:noAutofit/>
          </a:bodyPr>
          <a:lstStyle/>
          <a:p>
            <a:pPr marL="171450" indent="-171450">
              <a:lnSpc>
                <a:spcPct val="9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Conclusion</a:t>
            </a:r>
            <a:br>
              <a:rPr lang="en-US" sz="16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1. </a:t>
            </a:r>
            <a:r>
              <a:rPr lang="en-US" sz="1600" dirty="0">
                <a:latin typeface="Times New Roman" panose="02020603050405020304" pitchFamily="18" charset="0"/>
                <a:cs typeface="Times New Roman" panose="02020603050405020304" pitchFamily="18" charset="0"/>
              </a:rPr>
              <a:t>Behavioral​‍​‌‍​‍‌​‍​‌‍​‍‌ and transactional patterns have largely been the cause of fraud in this dataset. Some of these behaviors include rapid transaction velocity, risky transaction types, and device usage.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2.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turned out to be the most effective model that best-balanced recall, F1-score, and ROC-AUC. </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3. A substantial fraud detection improvement was brought about by a reduction in false negatives when the probability threshold was lowered to ​‍​‌‍​‍‌​‍​‌‍​‍‌0.2</a:t>
            </a:r>
          </a:p>
        </p:txBody>
      </p:sp>
      <p:sp>
        <p:nvSpPr>
          <p:cNvPr id="61" name="Rectangle 60">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Content Placeholder 2">
            <a:extLst>
              <a:ext uri="{FF2B5EF4-FFF2-40B4-BE49-F238E27FC236}">
                <a16:creationId xmlns:a16="http://schemas.microsoft.com/office/drawing/2014/main" id="{47BFD729-C033-17ED-56AC-A244AF2E6DAE}"/>
              </a:ext>
            </a:extLst>
          </p:cNvPr>
          <p:cNvSpPr>
            <a:spLocks noGrp="1"/>
          </p:cNvSpPr>
          <p:nvPr>
            <p:ph idx="1"/>
          </p:nvPr>
        </p:nvSpPr>
        <p:spPr>
          <a:xfrm>
            <a:off x="898606" y="3143988"/>
            <a:ext cx="7931358" cy="3423512"/>
          </a:xfrm>
        </p:spPr>
        <p:txBody>
          <a:bodyPr>
            <a:normAutofit/>
          </a:bodyPr>
          <a:lstStyle/>
          <a:p>
            <a:pPr marL="0" indent="0">
              <a:lnSpc>
                <a:spcPct val="90000"/>
              </a:lnSpc>
              <a:buNone/>
            </a:pPr>
            <a:r>
              <a:rPr lang="en-US" sz="1600" b="1" dirty="0">
                <a:latin typeface="Times New Roman" panose="02020603050405020304" pitchFamily="18" charset="0"/>
                <a:cs typeface="Times New Roman" panose="02020603050405020304" pitchFamily="18" charset="0"/>
              </a:rPr>
              <a:t>Key Takeaways</a:t>
            </a:r>
          </a:p>
          <a:p>
            <a:pPr>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Fraud​‍​‌‍​‍‌​‍​‌‍​‍‌ detection yields better results if it emphasizes the manner, time, and device of a transaction rather than just looking at user profile attributes.</a:t>
            </a:r>
          </a:p>
          <a:p>
            <a:pPr>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Behavioral and device-based features together offer the greatest predictive capability of identifying fraud at the earliest stage. </a:t>
            </a:r>
          </a:p>
          <a:p>
            <a:pPr marL="0" indent="0">
              <a:lnSpc>
                <a:spcPct val="90000"/>
              </a:lnSpc>
              <a:buNone/>
            </a:pPr>
            <a:r>
              <a:rPr lang="en-US" sz="1600" b="1" dirty="0">
                <a:latin typeface="Times New Roman" panose="02020603050405020304" pitchFamily="18" charset="0"/>
                <a:cs typeface="Times New Roman" panose="02020603050405020304" pitchFamily="18" charset="0"/>
              </a:rPr>
              <a:t>Overall Impact</a:t>
            </a:r>
          </a:p>
          <a:p>
            <a:pPr>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Implementing these insights and models can </a:t>
            </a:r>
            <a:r>
              <a:rPr lang="en-US" sz="1600" b="1" dirty="0">
                <a:latin typeface="Times New Roman" panose="02020603050405020304" pitchFamily="18" charset="0"/>
                <a:cs typeface="Times New Roman" panose="02020603050405020304" pitchFamily="18" charset="0"/>
              </a:rPr>
              <a:t>substantially reduce financial losses</a:t>
            </a:r>
            <a:r>
              <a:rPr lang="en-US" sz="1600" dirty="0">
                <a:latin typeface="Times New Roman" panose="02020603050405020304" pitchFamily="18" charset="0"/>
                <a:cs typeface="Times New Roman" panose="02020603050405020304" pitchFamily="18" charset="0"/>
              </a:rPr>
              <a:t>,</a:t>
            </a:r>
          </a:p>
          <a:p>
            <a:pPr>
              <a:lnSpc>
                <a:spcPct val="9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Enhance real-time fraud monitoring</a:t>
            </a:r>
            <a:r>
              <a:rPr lang="en-US" sz="1600" dirty="0">
                <a:latin typeface="Times New Roman" panose="02020603050405020304" pitchFamily="18" charset="0"/>
                <a:cs typeface="Times New Roman" panose="02020603050405020304" pitchFamily="18" charset="0"/>
              </a:rPr>
              <a:t>,</a:t>
            </a:r>
          </a:p>
          <a:p>
            <a:pPr>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And </a:t>
            </a:r>
            <a:r>
              <a:rPr lang="en-US" sz="1600" b="1" dirty="0">
                <a:latin typeface="Times New Roman" panose="02020603050405020304" pitchFamily="18" charset="0"/>
                <a:cs typeface="Times New Roman" panose="02020603050405020304" pitchFamily="18" charset="0"/>
              </a:rPr>
              <a:t>improve customer trust</a:t>
            </a:r>
            <a:r>
              <a:rPr lang="en-US" sz="1600" dirty="0">
                <a:latin typeface="Times New Roman" panose="02020603050405020304" pitchFamily="18" charset="0"/>
                <a:cs typeface="Times New Roman" panose="02020603050405020304" pitchFamily="18" charset="0"/>
              </a:rPr>
              <a:t> by reducing both missed fraud and unnecessary alerts.</a:t>
            </a:r>
          </a:p>
          <a:p>
            <a:pPr>
              <a:lnSpc>
                <a:spcPct val="90000"/>
              </a:lnSpc>
            </a:pPr>
            <a:endParaRPr lang="en-US" sz="1700" dirty="0"/>
          </a:p>
        </p:txBody>
      </p:sp>
      <p:pic>
        <p:nvPicPr>
          <p:cNvPr id="54" name="Graphic 53" descr="Lock">
            <a:extLst>
              <a:ext uri="{FF2B5EF4-FFF2-40B4-BE49-F238E27FC236}">
                <a16:creationId xmlns:a16="http://schemas.microsoft.com/office/drawing/2014/main" id="{ABFE3C37-51E5-417F-3779-5D7BBB20FE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88582" y="3528291"/>
            <a:ext cx="2454961" cy="1731416"/>
          </a:xfrm>
          <a:prstGeom prst="rect">
            <a:avLst/>
          </a:prstGeom>
        </p:spPr>
      </p:pic>
      <p:sp>
        <p:nvSpPr>
          <p:cNvPr id="63"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6510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3" name="Rectangle 42">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438329E-AAC7-1C5E-5CD0-067256F0279B}"/>
              </a:ext>
            </a:extLst>
          </p:cNvPr>
          <p:cNvSpPr>
            <a:spLocks noGrp="1"/>
          </p:cNvSpPr>
          <p:nvPr>
            <p:ph type="ctrTitle" idx="4294967295"/>
          </p:nvPr>
        </p:nvSpPr>
        <p:spPr>
          <a:xfrm>
            <a:off x="540279" y="967417"/>
            <a:ext cx="3778870" cy="3943250"/>
          </a:xfrm>
        </p:spPr>
        <p:txBody>
          <a:bodyPr vert="horz" lIns="91440" tIns="45720" rIns="91440" bIns="45720" rtlCol="0" anchor="b">
            <a:normAutofit/>
          </a:bodyPr>
          <a:lstStyle/>
          <a:p>
            <a:r>
              <a:rPr lang="en-US" sz="4000">
                <a:solidFill>
                  <a:srgbClr val="FEFFFF"/>
                </a:solidFill>
              </a:rPr>
              <a:t>Thank you</a:t>
            </a:r>
          </a:p>
        </p:txBody>
      </p:sp>
      <p:sp>
        <p:nvSpPr>
          <p:cNvPr id="47"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6" name="Graphic 5" descr="Smiling Face with No Fill">
            <a:extLst>
              <a:ext uri="{FF2B5EF4-FFF2-40B4-BE49-F238E27FC236}">
                <a16:creationId xmlns:a16="http://schemas.microsoft.com/office/drawing/2014/main" id="{8FF834D1-0A56-DC3A-7BDA-0575CA2A78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43011" y="967417"/>
            <a:ext cx="4930468" cy="4930468"/>
          </a:xfrm>
          <a:prstGeom prst="rect">
            <a:avLst/>
          </a:prstGeom>
        </p:spPr>
      </p:pic>
    </p:spTree>
    <p:extLst>
      <p:ext uri="{BB962C8B-B14F-4D97-AF65-F5344CB8AC3E}">
        <p14:creationId xmlns:p14="http://schemas.microsoft.com/office/powerpoint/2010/main" val="371060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emplate>Wisp</Template>
  <TotalTime>266</TotalTime>
  <Words>2308</Words>
  <Application>Microsoft Macintosh PowerPoint</Application>
  <PresentationFormat>Widescreen</PresentationFormat>
  <Paragraphs>173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Century Gothic</vt:lpstr>
      <vt:lpstr>Times New Roman</vt:lpstr>
      <vt:lpstr>Wingdings 3</vt:lpstr>
      <vt:lpstr>Wisp</vt:lpstr>
      <vt:lpstr>Project Title: Fraud Detection in Financial Transactions</vt:lpstr>
      <vt:lpstr> Goal:  To build a machine learning model to predict fraudulent financial transactions. </vt:lpstr>
      <vt:lpstr>Dataset Overview Total Features: 12 Target Variable: Fraudulent (0 = Not Fraud, 1 = Fraud) </vt:lpstr>
      <vt:lpstr>Fraud Frequency Based on Last 24-Hour Transaction Count</vt:lpstr>
      <vt:lpstr>Key EDA Findings  Fraudulent vs Non-Fraudulent Transactions Over Time </vt:lpstr>
      <vt:lpstr>Fraud Patterns Across Different Locations</vt:lpstr>
      <vt:lpstr>Correlation Analysis of Numeric Features</vt:lpstr>
      <vt:lpstr>Data Cleaning &amp; Preprocessing(Part 1)  Cleaning Steps:  1. Checked missing values  2. Verified datatypes for  each feature  3. Removed inconsistent entries  4. Standardized formats for     categorical fields </vt:lpstr>
      <vt:lpstr>Mutual Information Ranking of Important Features</vt:lpstr>
      <vt:lpstr>Model Training and Prediction</vt:lpstr>
      <vt:lpstr>Model Evaluation   Evaluation Metrics Used  Accuracy – overall correctness Precision – correctness of fraud predictions Recall – ability to catch actual fraud cases (most important metric) F1-Score – balance between precision and recall ROC–AUC – discrimination ability between fraud &amp; non-fraud Confusion Matrix – prediction breakdown per model </vt:lpstr>
      <vt:lpstr> </vt:lpstr>
      <vt:lpstr>Feature Importance &amp; Explainability  Why​‍​‌‍​‍‌​‍​‌‍​‍‌ Feature Importance Matters  Feature importance helps to determine which features have the greatest impact on fraud prediction. It also provides insight into the workings of the model by showing the rationale behind the model's decisions. The knowledge of feature importance thus allows business teams to come up with the most efficient anti-fraud measures that are focused on a specific area. </vt:lpstr>
      <vt:lpstr>Key Insights from Fraud Analysis  Behavioral Patterns Fraud is strongly linked to transaction timing, especially short intervals between consecutive payments → Higher fraud likelihood when customers perform 6+ transactions within 24 hours → Fraudulent transactions often occur through Bank Transfers, POS Payments, and Online Purchases Device-Related Patterns → Fraudsters frequently use Tablets, Mobiles, or Unknown Devices → Device type ranks among the top predictors of fraud in XGBoost Transaction Amount Patterns → Fraud clusters around mid-range amounts ($1,000–$5,000) → High-value transactions (&gt; $10,000) show a higher fraud rate (6.3%), though less frequent </vt:lpstr>
      <vt:lpstr>Conclusion  1. Behavioral​‍​‌‍​‍‌​‍​‌‍​‍‌ and transactional patterns have largely been the cause of fraud in this dataset. Some of these behaviors include rapid transaction velocity, risky transaction types, and device usage.  2. XGBoost turned out to be the most effective model that best-balanced recall, F1-score, and ROC-AUC.   3. A substantial fraud detection improvement was brought about by a reduction in false negatives when the probability threshold was lowered to ​‍​‌‍​‍‌​‍​‌‍​‍‌0.2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Podduturu, Pooja</dc:creator>
  <cp:lastModifiedBy>Borad, Shivangi Vipulbhai</cp:lastModifiedBy>
  <cp:revision>5</cp:revision>
  <dcterms:created xsi:type="dcterms:W3CDTF">2025-12-06T01:23:33Z</dcterms:created>
  <dcterms:modified xsi:type="dcterms:W3CDTF">2025-12-06T19:53:47Z</dcterms:modified>
</cp:coreProperties>
</file>